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5"/>
  </p:notesMasterIdLst>
  <p:sldIdLst>
    <p:sldId id="256" r:id="rId2"/>
    <p:sldId id="257" r:id="rId3"/>
    <p:sldId id="258" r:id="rId4"/>
  </p:sldIdLst>
  <p:sldSz cx="12192000" cy="6858000"/>
  <p:notesSz cx="6858000" cy="9144000"/>
  <p:embeddedFontLst>
    <p:embeddedFont>
      <p:font typeface="Georgia" panose="02040502050405020303" pitchFamily="18" charset="0"/>
      <p:regular r:id="rId6"/>
      <p:bold r:id="rId7"/>
      <p:italic r:id="rId8"/>
      <p:boldItalic r:id="rId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viewProps" Target="viewProps.xml"/><Relationship Id="rId5" Type="http://schemas.openxmlformats.org/officeDocument/2006/relationships/notesMaster" Target="notesMasters/notesMaster1.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outputs from separation and diarization
### Vismay: 0:00–1:00, including 15 seconds of audio
Good morning. We are team vismAI. Our project, whospoke, identifies who spoke what and when in noisy Hindi–English conversations.
We will show the actual saved outputs. This example combines real Hindi speech with market noise and overlapping voices. It is a simulated test conversation.
I handled Milestone 1, separation. These are two output clips from Conv-TasNet, taken from the same overlapping stretch.
[Vismay: click Speaker A, then Speaker B, about 7.5 seconds each. If PC playback fails, say: “We'll play the same clips from the phone.” Keep slide 1 visible and play the downloaded clips from Darshan's phone, A then B. You own this fallback. Do not replay a clip that already worked. If the phone also fails, continue with the visible outputs.]
Across 245 test overlap regions, the separator improves SI-SDR by 9.6 decibels. That measures separation quality, not transcription accuracy. Darshan will show the speaker timeline.
### Darshan: 1:00–1:45
I handled Milestone 2: who spoke when. The table is directly from our timeline output. It assigns Speaker A from 26.85 to 31.75 seconds, then Speaker B, then Speaker A again.
We detect speech, extract short-window voice embeddings, and cluster similar embeddings into speaker groups. The output is anonymous speaker labels with start and end times.
Our spectral configuration has 20.3 percent diarization error. GMM also gets 20.3, while the complete pyannote baseline gets 18.4. So we do not claim to beat that baseline.
In our chosen order, we diarize the original recording first, then separate the detected overlaps.
[Next slide.]
Sources: results/demo/timeline.json; results/separation_test_summary.csv; results/eval_test_indicconformer.csv; docs/presentation/demo-video/make_speaker_clips.py. Clips demonstrate standalone full-recording separation, not the overlap-only evaluation.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actual transcription output
### Darshan: 1:45–2:40
Abhinav handled Milestone 3. These lines are copied from the saved Hinglish transcript, with the predicted speakers and timestamps. The system also saves Devanagari text, subtitles and JSON.
[Point to the first line, then the Speaker B reply. Do not read all three lines.]
For speech recognition alone, IndicConformer gets 21 percent word error on 400 Vaani clips, compared with 38 percent for IndicWav2Vec.
The full-pipeline comparison is a different test: 72 simulated conversations, about 83 minutes, across eight speaker groups. cpWER measures both word errors and speaker attribution errors.
Separating first gives 55.8 percent cpWER. Diarizing first gives 49.5, and wins in 50 of the 72 conversations. Errors remain substantial, especially in assigning speech to the right speaker.
[Next slide.]
Sources: results/demo/transcript.json; results/asr_comparison.csv; results/eval_test_indicconformer.csv.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report output and next steps
### Darshan: 2:40–3:40
Shrivaths handled Milestone 4. Airavata produces a report with a summary, keywords and translated dialogue. On the left are actual excerpts: the lost ID card, and the question about office hours.
The report keeps speaker labels and timestamps unchanged. But producing a report does not mean the report is fully reliable. On 63 evaluated conversations, transcript repair adds 0.9 cpWER points on average. No accepted action items remain in the 252 evaluated reports.
So the Stage-3 transcript remains the record, and the report is a reading aid that needs checking.
Our proposed next steps are to improve Hindi speaker embeddings, evaluate a larger LLM for action items, and retrain separation on Indian voices and noise. These are future experiments, not completed improvements. Thank you.
Sources: results/demo/report.md; results/eval_postprocess.csv; docs/presentation/demo-video/deck/slides/next.html.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D191D04-DB99-4CB8-B95F-951AB042A64F}"/>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C260681C-A2B2-4BDA-A7C9-3C92B8880B14}"/>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274DEB96-F075-4AED-B615-F20004655AF4}"/>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C7354C2-B196-4631-B13A-284A38664138}"/>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D5F7F319-2DC8-458D-B0FB-7B45B8CEF474}"/>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1BA502D9-7179-4DB1-84D4-1317F2D5126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B94CC8D-EC55-44D9-9DED-BD336E729417}"/>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E9F7AC3C-66F9-4EF6-8E8B-DA3EB0CD184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1B20DD0-FD9E-4187-B8E7-400A16CA8F6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F9546FD2-70E0-4B6B-B75A-B3960654F1B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png"/><Relationship Id="rId3" Type="http://schemas.microsoft.com/office/2007/relationships/media" Target="../media/media2.mp4"/><Relationship Id="rId7" Type="http://schemas.openxmlformats.org/officeDocument/2006/relationships/image" Target="../media/image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1.xml"/><Relationship Id="rId5" Type="http://schemas.openxmlformats.org/officeDocument/2006/relationships/slideLayout" Target="../slideLayouts/slideLayout6.xml"/><Relationship Id="rId4" Type="http://schemas.openxmlformats.org/officeDocument/2006/relationships/video" Target="../media/media2.mp4"/></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E7BE494-7B7A-4469-A164-93BB5C04462C}"/>
              </a:ext>
            </a:extLst>
          </p:cNvPr>
          <p:cNvSpPr>
            <a:spLocks noGrp="1"/>
          </p:cNvSpPr>
          <p:nvPr/>
        </p:nvSpPr>
        <p:spPr>
          <a:xfrm>
            <a:off x="609600" y="314325"/>
            <a:ext cx="8572500" cy="209550"/>
          </a:xfrm>
          <a:prstGeom prst="rect">
            <a:avLst/>
          </a:prstGeom>
          <a:noFill/>
          <a:ln w="0">
            <a:noFill/>
          </a:ln>
        </p:spPr>
        <p:txBody>
          <a:bodyPr lIns="0" tIns="0" rIns="0" bIns="0" anchor="t"/>
          <a:lstStyle>
            <a:defPPr>
              <a:defRPr sz="1125" b="0">
                <a:solidFill>
                  <a:srgbClr val="5E5D59"/>
                </a:solidFill>
                <a:latin typeface="Poppins"/>
                <a:ea typeface="Poppins"/>
                <a:cs typeface="Poppins"/>
              </a:defRPr>
            </a:defPPr>
          </a:lstStyle>
          <a:p>
            <a:pPr>
              <a:defRPr sz="1125" b="0">
                <a:solidFill>
                  <a:srgbClr val="5E5D59"/>
                </a:solidFill>
                <a:latin typeface="Poppins"/>
                <a:ea typeface="Poppins"/>
                <a:cs typeface="Poppins"/>
              </a:defRPr>
            </a:pPr>
            <a:r>
              <a:rPr sz="1125" b="0">
                <a:solidFill>
                  <a:srgbClr val="5E5D59"/>
                </a:solidFill>
                <a:latin typeface="Poppins"/>
                <a:ea typeface="Poppins"/>
                <a:cs typeface="Poppins"/>
              </a:rPr>
              <a:t>TEAM vismAI / CS F407</a:t>
            </a:r>
          </a:p>
        </p:txBody>
      </p:sp>
      <p:sp>
        <p:nvSpPr>
          <p:cNvPr id="2" name="Rectangle 1">
            <a:extLst>
              <a:ext uri="{FF2B5EF4-FFF2-40B4-BE49-F238E27FC236}">
                <a16:creationId xmlns:a16="http://schemas.microsoft.com/office/drawing/2014/main" id="{8ACC9433-5CAE-46B3-B010-A6FE931B1176}"/>
              </a:ext>
            </a:extLst>
          </p:cNvPr>
          <p:cNvSpPr>
            <a:spLocks noGrp="1"/>
          </p:cNvSpPr>
          <p:nvPr/>
        </p:nvSpPr>
        <p:spPr>
          <a:xfrm>
            <a:off x="609600" y="695325"/>
            <a:ext cx="10972800" cy="619125"/>
          </a:xfrm>
          <a:prstGeom prst="rect">
            <a:avLst/>
          </a:prstGeom>
          <a:noFill/>
          <a:ln w="0">
            <a:noFill/>
          </a:ln>
        </p:spPr>
        <p:txBody>
          <a:bodyPr lIns="0" tIns="0" rIns="0" bIns="0" anchor="t"/>
          <a:lstStyle>
            <a:defPPr>
              <a:defRPr sz="3000" b="1">
                <a:solidFill>
                  <a:srgbClr val="141413"/>
                </a:solidFill>
                <a:latin typeface="Poppins"/>
                <a:ea typeface="Poppins"/>
                <a:cs typeface="Poppins"/>
              </a:defRPr>
            </a:defPPr>
          </a:lstStyle>
          <a:p>
            <a:pPr>
              <a:defRPr sz="3000" b="1">
                <a:solidFill>
                  <a:srgbClr val="141413"/>
                </a:solidFill>
                <a:latin typeface="Poppins"/>
                <a:ea typeface="Poppins"/>
                <a:cs typeface="Poppins"/>
              </a:defRPr>
            </a:pPr>
            <a:r>
              <a:rPr sz="3000" b="1">
                <a:solidFill>
                  <a:srgbClr val="141413"/>
                </a:solidFill>
                <a:latin typeface="Poppins"/>
                <a:ea typeface="Poppins"/>
                <a:cs typeface="Poppins"/>
              </a:rPr>
              <a:t>Separated voices and speaker timelines</a:t>
            </a:r>
          </a:p>
        </p:txBody>
      </p:sp>
      <p:sp>
        <p:nvSpPr>
          <p:cNvPr id="3" name="Rectangle 2">
            <a:extLst>
              <a:ext uri="{FF2B5EF4-FFF2-40B4-BE49-F238E27FC236}">
                <a16:creationId xmlns:a16="http://schemas.microsoft.com/office/drawing/2014/main" id="{B74A3632-8C71-41ED-BA73-5515F117E831}"/>
              </a:ext>
            </a:extLst>
          </p:cNvPr>
          <p:cNvSpPr>
            <a:spLocks noGrp="1"/>
          </p:cNvSpPr>
          <p:nvPr/>
        </p:nvSpPr>
        <p:spPr>
          <a:xfrm>
            <a:off x="609600" y="1362075"/>
            <a:ext cx="10972800" cy="552450"/>
          </a:xfrm>
          <a:prstGeom prst="rect">
            <a:avLst/>
          </a:prstGeom>
          <a:noFill/>
          <a:ln w="0">
            <a:noFill/>
          </a:ln>
        </p:spPr>
        <p:txBody>
          <a:bodyPr lIns="0" tIns="0" rIns="0" bIns="0" anchor="t"/>
          <a:lstStyle>
            <a:defPPr>
              <a:defRPr sz="1575" b="0">
                <a:solidFill>
                  <a:srgbClr val="5E5D59"/>
                </a:solidFill>
                <a:latin typeface="Georgia"/>
                <a:ea typeface="Georgia"/>
                <a:cs typeface="Georgia"/>
              </a:defRPr>
            </a:defPPr>
          </a:lstStyle>
          <a:p>
            <a:pPr>
              <a:defRPr sz="1575" b="0">
                <a:solidFill>
                  <a:srgbClr val="5E5D59"/>
                </a:solidFill>
                <a:latin typeface="Georgia"/>
                <a:ea typeface="Georgia"/>
                <a:cs typeface="Georgia"/>
              </a:defRPr>
            </a:pPr>
            <a:r>
              <a:rPr sz="1575" b="0">
                <a:solidFill>
                  <a:srgbClr val="5E5D59"/>
                </a:solidFill>
                <a:latin typeface="Georgia"/>
                <a:ea typeface="Georgia"/>
                <a:cs typeface="Georgia"/>
              </a:rPr>
              <a:t>Simulated test conversation: real Hindi speech, two speakers, heavy overlap and 5 dB market noise.</a:t>
            </a:r>
          </a:p>
        </p:txBody>
      </p:sp>
      <p:sp>
        <p:nvSpPr>
          <p:cNvPr id="4" name="Rectangle 3">
            <a:extLst>
              <a:ext uri="{FF2B5EF4-FFF2-40B4-BE49-F238E27FC236}">
                <a16:creationId xmlns:a16="http://schemas.microsoft.com/office/drawing/2014/main" id="{2B58B338-BEBB-4557-B2DD-542CA8E5ED24}"/>
              </a:ext>
            </a:extLst>
          </p:cNvPr>
          <p:cNvSpPr>
            <a:spLocks noGrp="1"/>
          </p:cNvSpPr>
          <p:nvPr/>
        </p:nvSpPr>
        <p:spPr>
          <a:xfrm>
            <a:off x="609600" y="6486525"/>
            <a:ext cx="10972800" cy="209550"/>
          </a:xfrm>
          <a:prstGeom prst="rect">
            <a:avLst/>
          </a:prstGeom>
          <a:noFill/>
          <a:ln w="0">
            <a:noFill/>
          </a:ln>
        </p:spPr>
        <p:txBody>
          <a:bodyPr lIns="0" tIns="0" rIns="0" bIns="0" anchor="t"/>
          <a:lstStyle>
            <a:defPPr>
              <a:defRPr sz="1050" b="0">
                <a:solidFill>
                  <a:srgbClr val="5E5D59"/>
                </a:solidFill>
                <a:latin typeface="Poppins"/>
                <a:ea typeface="Poppins"/>
                <a:cs typeface="Poppins"/>
              </a:defRPr>
            </a:defPPr>
          </a:lstStyle>
          <a:p>
            <a:pPr>
              <a:defRPr sz="1050" b="0">
                <a:solidFill>
                  <a:srgbClr val="5E5D59"/>
                </a:solidFill>
                <a:latin typeface="Poppins"/>
                <a:ea typeface="Poppins"/>
                <a:cs typeface="Poppins"/>
              </a:defRPr>
            </a:pPr>
            <a:r>
              <a:rPr sz="1050" b="0">
                <a:solidFill>
                  <a:srgbClr val="5E5D59"/>
                </a:solidFill>
                <a:latin typeface="Poppins"/>
                <a:ea typeface="Poppins"/>
                <a:cs typeface="Poppins"/>
              </a:rPr>
              <a:t>whospoke     1 / 3</a:t>
            </a:r>
          </a:p>
        </p:txBody>
      </p:sp>
      <p:sp>
        <p:nvSpPr>
          <p:cNvPr id="5" name="Rectangle 4">
            <a:extLst>
              <a:ext uri="{FF2B5EF4-FFF2-40B4-BE49-F238E27FC236}">
                <a16:creationId xmlns:a16="http://schemas.microsoft.com/office/drawing/2014/main" id="{6F443C5A-E19A-44E3-965A-89693FEE02D4}"/>
              </a:ext>
            </a:extLst>
          </p:cNvPr>
          <p:cNvSpPr>
            <a:spLocks noGrp="1"/>
          </p:cNvSpPr>
          <p:nvPr/>
        </p:nvSpPr>
        <p:spPr>
          <a:xfrm>
            <a:off x="609600" y="2057400"/>
            <a:ext cx="5143500" cy="342900"/>
          </a:xfrm>
          <a:prstGeom prst="rect">
            <a:avLst/>
          </a:prstGeom>
          <a:noFill/>
          <a:ln w="0">
            <a:noFill/>
          </a:ln>
        </p:spPr>
        <p:txBody>
          <a:bodyPr lIns="0" tIns="0" rIns="0" bIns="0" anchor="t"/>
          <a:lstStyle>
            <a:defPPr>
              <a:defRPr sz="1875" b="1">
                <a:solidFill>
                  <a:srgbClr val="141413"/>
                </a:solidFill>
                <a:latin typeface="Poppins"/>
                <a:ea typeface="Poppins"/>
                <a:cs typeface="Poppins"/>
              </a:defRPr>
            </a:defPPr>
          </a:lstStyle>
          <a:p>
            <a:pPr>
              <a:defRPr sz="1875" b="1">
                <a:solidFill>
                  <a:srgbClr val="141413"/>
                </a:solidFill>
                <a:latin typeface="Poppins"/>
                <a:ea typeface="Poppins"/>
                <a:cs typeface="Poppins"/>
              </a:defRPr>
            </a:pPr>
            <a:r>
              <a:rPr sz="1875" b="1">
                <a:solidFill>
                  <a:srgbClr val="141413"/>
                </a:solidFill>
                <a:latin typeface="Poppins"/>
                <a:ea typeface="Poppins"/>
                <a:cs typeface="Poppins"/>
              </a:rPr>
              <a:t>M1  Separation / Vismay</a:t>
            </a:r>
          </a:p>
        </p:txBody>
      </p:sp>
      <p:sp>
        <p:nvSpPr>
          <p:cNvPr id="6" name="Rectangle 5">
            <a:extLst>
              <a:ext uri="{FF2B5EF4-FFF2-40B4-BE49-F238E27FC236}">
                <a16:creationId xmlns:a16="http://schemas.microsoft.com/office/drawing/2014/main" id="{6CEAB573-D51E-4AFF-9668-1086E93C910B}"/>
              </a:ext>
            </a:extLst>
          </p:cNvPr>
          <p:cNvSpPr>
            <a:spLocks noGrp="1"/>
          </p:cNvSpPr>
          <p:nvPr/>
        </p:nvSpPr>
        <p:spPr>
          <a:xfrm>
            <a:off x="609600" y="2457450"/>
            <a:ext cx="5238750" cy="285750"/>
          </a:xfrm>
          <a:prstGeom prst="rect">
            <a:avLst/>
          </a:prstGeom>
          <a:noFill/>
          <a:ln w="0">
            <a:noFill/>
          </a:ln>
        </p:spPr>
        <p:txBody>
          <a:bodyPr lIns="0" tIns="0" rIns="0" bIns="0" anchor="t"/>
          <a:lstStyle>
            <a:defPPr>
              <a:defRPr sz="1350" b="0">
                <a:solidFill>
                  <a:srgbClr val="5E5D59"/>
                </a:solidFill>
                <a:latin typeface="Georgia"/>
                <a:ea typeface="Georgia"/>
                <a:cs typeface="Georgia"/>
              </a:defRPr>
            </a:defPPr>
          </a:lstStyle>
          <a:p>
            <a:pPr>
              <a:defRPr sz="1350" b="0">
                <a:solidFill>
                  <a:srgbClr val="5E5D59"/>
                </a:solidFill>
                <a:latin typeface="Georgia"/>
                <a:ea typeface="Georgia"/>
                <a:cs typeface="Georgia"/>
              </a:defRPr>
            </a:pPr>
            <a:r>
              <a:rPr sz="1350" b="0">
                <a:solidFill>
                  <a:srgbClr val="5E5D59"/>
                </a:solidFill>
                <a:latin typeface="Georgia"/>
                <a:ea typeface="Georgia"/>
                <a:cs typeface="Georgia"/>
              </a:rPr>
              <a:t>Conv-TasNet output clips, 28.0–35.5 s</a:t>
            </a:r>
          </a:p>
        </p:txBody>
      </p:sp>
      <p:pic>
        <p:nvPicPr>
          <p:cNvPr id="7" name="Picture 6">
            <a:extLst>
              <a:ext uri="{FF2B5EF4-FFF2-40B4-BE49-F238E27FC236}">
                <a16:creationId xmlns:a16="http://schemas.microsoft.com/office/drawing/2014/main" id="{1A0433A8-DEDB-4BEB-BDE6-2EFE59F8D8F9}"/>
              </a:ext>
            </a:extLst>
          </p:cNvPr>
          <p:cNvPicPr>
            <a:picLocks noChangeAspect="1"/>
          </p:cNvPicPr>
          <p:nvPr/>
        </p:nvPicPr>
        <p:blipFill>
          <a:blip r:embed="rId7"/>
          <a:stretch/>
        </p:blipFill>
        <p:spPr>
          <a:xfrm>
            <a:off x="616676" y="2905125"/>
            <a:ext cx="5129349" cy="1447800"/>
          </a:xfrm>
          <a:prstGeom prst="rect">
            <a:avLst/>
          </a:prstGeom>
        </p:spPr>
      </p:pic>
      <p:pic>
        <p:nvPicPr>
          <p:cNvPr id="8" name="Picture 7">
            <a:extLst>
              <a:ext uri="{FF2B5EF4-FFF2-40B4-BE49-F238E27FC236}">
                <a16:creationId xmlns:a16="http://schemas.microsoft.com/office/drawing/2014/main" id="{E7782D7F-0CCC-4409-8EB0-5BDC62780A07}"/>
              </a:ext>
            </a:extLst>
          </p:cNvPr>
          <p:cNvPicPr>
            <a:picLocks noChangeAspect="1"/>
          </p:cNvPicPr>
          <p:nvPr/>
        </p:nvPicPr>
        <p:blipFill>
          <a:blip r:embed="rId8"/>
          <a:stretch/>
        </p:blipFill>
        <p:spPr>
          <a:xfrm>
            <a:off x="616676" y="4457700"/>
            <a:ext cx="5129349" cy="1447800"/>
          </a:xfrm>
          <a:prstGeom prst="rect">
            <a:avLst/>
          </a:prstGeom>
        </p:spPr>
      </p:pic>
      <p:sp>
        <p:nvSpPr>
          <p:cNvPr id="9" name="Rectangle 8">
            <a:extLst>
              <a:ext uri="{FF2B5EF4-FFF2-40B4-BE49-F238E27FC236}">
                <a16:creationId xmlns:a16="http://schemas.microsoft.com/office/drawing/2014/main" id="{4DE4E936-185F-4B2B-9FDD-830FCAC710FA}"/>
              </a:ext>
            </a:extLst>
          </p:cNvPr>
          <p:cNvSpPr>
            <a:spLocks noGrp="1"/>
          </p:cNvSpPr>
          <p:nvPr/>
        </p:nvSpPr>
        <p:spPr>
          <a:xfrm>
            <a:off x="609600" y="6029325"/>
            <a:ext cx="5276850" cy="342900"/>
          </a:xfrm>
          <a:prstGeom prst="rect">
            <a:avLst/>
          </a:prstGeom>
          <a:noFill/>
          <a:ln w="0">
            <a:noFill/>
          </a:ln>
        </p:spPr>
        <p:txBody>
          <a:bodyPr lIns="0" tIns="0" rIns="0" bIns="0" anchor="t"/>
          <a:lstStyle>
            <a:defPPr>
              <a:defRPr sz="1350" b="1">
                <a:solidFill>
                  <a:srgbClr val="141413"/>
                </a:solidFill>
                <a:latin typeface="Georgia"/>
                <a:ea typeface="Georgia"/>
                <a:cs typeface="Georgia"/>
              </a:defRPr>
            </a:defPPr>
          </a:lstStyle>
          <a:p>
            <a:pPr>
              <a:defRPr sz="1350" b="1">
                <a:solidFill>
                  <a:srgbClr val="141413"/>
                </a:solidFill>
                <a:latin typeface="Georgia"/>
                <a:ea typeface="Georgia"/>
                <a:cs typeface="Georgia"/>
              </a:defRPr>
            </a:pPr>
            <a:r>
              <a:rPr sz="1350" b="1">
                <a:solidFill>
                  <a:srgbClr val="141413"/>
                </a:solidFill>
                <a:latin typeface="Georgia"/>
                <a:ea typeface="Georgia"/>
                <a:cs typeface="Georgia"/>
              </a:rPr>
              <a:t>+9.6 dB SI-SDR improvement on 245 test overlap regions</a:t>
            </a:r>
          </a:p>
        </p:txBody>
      </p:sp>
      <p:sp>
        <p:nvSpPr>
          <p:cNvPr id="10" name="Rectangle 9">
            <a:extLst>
              <a:ext uri="{FF2B5EF4-FFF2-40B4-BE49-F238E27FC236}">
                <a16:creationId xmlns:a16="http://schemas.microsoft.com/office/drawing/2014/main" id="{5EDA2C75-A2BD-46C4-9FC1-F1435F01DCEE}"/>
              </a:ext>
            </a:extLst>
          </p:cNvPr>
          <p:cNvSpPr>
            <a:spLocks noGrp="1"/>
          </p:cNvSpPr>
          <p:nvPr/>
        </p:nvSpPr>
        <p:spPr>
          <a:xfrm>
            <a:off x="6343650" y="2057400"/>
            <a:ext cx="5238750" cy="342900"/>
          </a:xfrm>
          <a:prstGeom prst="rect">
            <a:avLst/>
          </a:prstGeom>
          <a:noFill/>
          <a:ln w="0">
            <a:noFill/>
          </a:ln>
        </p:spPr>
        <p:txBody>
          <a:bodyPr lIns="0" tIns="0" rIns="0" bIns="0" anchor="t"/>
          <a:lstStyle>
            <a:defPPr>
              <a:defRPr sz="1875" b="1">
                <a:solidFill>
                  <a:srgbClr val="141413"/>
                </a:solidFill>
                <a:latin typeface="Poppins"/>
                <a:ea typeface="Poppins"/>
                <a:cs typeface="Poppins"/>
              </a:defRPr>
            </a:defPPr>
          </a:lstStyle>
          <a:p>
            <a:pPr>
              <a:defRPr sz="1875" b="1">
                <a:solidFill>
                  <a:srgbClr val="141413"/>
                </a:solidFill>
                <a:latin typeface="Poppins"/>
                <a:ea typeface="Poppins"/>
                <a:cs typeface="Poppins"/>
              </a:defRPr>
            </a:pPr>
            <a:r>
              <a:rPr sz="1875" b="1">
                <a:solidFill>
                  <a:srgbClr val="141413"/>
                </a:solidFill>
                <a:latin typeface="Poppins"/>
                <a:ea typeface="Poppins"/>
                <a:cs typeface="Poppins"/>
              </a:rPr>
              <a:t>M2  Diarization / Darshan</a:t>
            </a:r>
          </a:p>
        </p:txBody>
      </p:sp>
      <p:sp>
        <p:nvSpPr>
          <p:cNvPr id="11" name="Rectangle 10">
            <a:extLst>
              <a:ext uri="{FF2B5EF4-FFF2-40B4-BE49-F238E27FC236}">
                <a16:creationId xmlns:a16="http://schemas.microsoft.com/office/drawing/2014/main" id="{A08273FB-50E0-463A-A3B7-36D42F6F4FE5}"/>
              </a:ext>
            </a:extLst>
          </p:cNvPr>
          <p:cNvSpPr>
            <a:spLocks noGrp="1"/>
          </p:cNvSpPr>
          <p:nvPr/>
        </p:nvSpPr>
        <p:spPr>
          <a:xfrm>
            <a:off x="6343650" y="2457450"/>
            <a:ext cx="5238750" cy="285750"/>
          </a:xfrm>
          <a:prstGeom prst="rect">
            <a:avLst/>
          </a:prstGeom>
          <a:noFill/>
          <a:ln w="0">
            <a:noFill/>
          </a:ln>
        </p:spPr>
        <p:txBody>
          <a:bodyPr lIns="0" tIns="0" rIns="0" bIns="0" anchor="t"/>
          <a:lstStyle>
            <a:defPPr>
              <a:defRPr sz="1350" b="0">
                <a:solidFill>
                  <a:srgbClr val="5E5D59"/>
                </a:solidFill>
                <a:latin typeface="Georgia"/>
                <a:ea typeface="Georgia"/>
                <a:cs typeface="Georgia"/>
              </a:defRPr>
            </a:defPPr>
          </a:lstStyle>
          <a:p>
            <a:pPr>
              <a:defRPr sz="1350" b="0">
                <a:solidFill>
                  <a:srgbClr val="5E5D59"/>
                </a:solidFill>
                <a:latin typeface="Georgia"/>
                <a:ea typeface="Georgia"/>
                <a:cs typeface="Georgia"/>
              </a:defRPr>
            </a:pPr>
            <a:r>
              <a:rPr sz="1350" b="0">
                <a:solidFill>
                  <a:srgbClr val="5E5D59"/>
                </a:solidFill>
                <a:latin typeface="Georgia"/>
                <a:ea typeface="Georgia"/>
                <a:cs typeface="Georgia"/>
              </a:rPr>
              <a:t>Actual timeline.json output (excerpt)</a:t>
            </a:r>
          </a:p>
        </p:txBody>
      </p:sp>
      <p:graphicFrame>
        <p:nvGraphicFramePr>
          <p:cNvPr id="12" name="Table 11">
            <a:extLst>
              <a:ext uri="{FF2B5EF4-FFF2-40B4-BE49-F238E27FC236}">
                <a16:creationId xmlns:a16="http://schemas.microsoft.com/office/drawing/2014/main" id="{05FF459B-D481-4E2C-9C2F-E3E9CEBC0804}"/>
              </a:ext>
            </a:extLst>
          </p:cNvPr>
          <p:cNvGraphicFramePr/>
          <p:nvPr/>
        </p:nvGraphicFramePr>
        <p:xfrm>
          <a:off x="6343650" y="2924175"/>
          <a:ext cx="5238750" cy="2133600"/>
        </p:xfrm>
        <a:graphic>
          <a:graphicData uri="http://schemas.openxmlformats.org/drawingml/2006/table">
            <a:tbl>
              <a:tblPr/>
              <a:tblGrid>
                <a:gridCol w="1524000">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tblGrid>
              <a:tr h="533400">
                <a:tc>
                  <a:txBody>
                    <a:bodyPr/>
                    <a:lstStyle/>
                    <a:p>
                      <a:r>
                        <a:rPr sz="1575" b="1">
                          <a:solidFill>
                            <a:srgbClr val="141413"/>
                          </a:solidFill>
                          <a:latin typeface="Poppins"/>
                          <a:ea typeface="Poppins"/>
                          <a:cs typeface="Poppins"/>
                        </a:rPr>
                        <a:t>Start (s)</a:t>
                      </a:r>
                    </a:p>
                  </a:txBody>
                  <a:tcPr>
                    <a:lnL w="9525">
                      <a:solidFill>
                        <a:srgbClr val="E8E6DC"/>
                      </a:solidFill>
                    </a:lnL>
                    <a:lnR w="9525">
                      <a:solidFill>
                        <a:srgbClr val="E8E6DC"/>
                      </a:solidFill>
                    </a:lnR>
                    <a:lnT w="9525">
                      <a:solidFill>
                        <a:srgbClr val="E8E6DC"/>
                      </a:solidFill>
                    </a:lnT>
                    <a:lnB w="9525">
                      <a:solidFill>
                        <a:srgbClr val="E8E6DC"/>
                      </a:solidFill>
                    </a:lnB>
                    <a:solidFill>
                      <a:srgbClr val="F0EEE6"/>
                    </a:solidFill>
                  </a:tcPr>
                </a:tc>
                <a:tc>
                  <a:txBody>
                    <a:bodyPr/>
                    <a:lstStyle/>
                    <a:p>
                      <a:r>
                        <a:rPr sz="1575" b="1">
                          <a:solidFill>
                            <a:srgbClr val="141413"/>
                          </a:solidFill>
                          <a:latin typeface="Poppins"/>
                          <a:ea typeface="Poppins"/>
                          <a:cs typeface="Poppins"/>
                        </a:rPr>
                        <a:t>End (s)</a:t>
                      </a:r>
                    </a:p>
                  </a:txBody>
                  <a:tcPr>
                    <a:lnL w="9525" cap="flat" cmpd="sng" algn="ctr">
                      <a:solidFill>
                        <a:srgbClr val="E8E6DC"/>
                      </a:solidFill>
                      <a:prstDash val="solid"/>
                      <a:round/>
                      <a:headEnd type="none" w="med" len="med"/>
                      <a:tailEnd type="none" w="med" len="med"/>
                    </a:lnL>
                    <a:lnR w="9525">
                      <a:solidFill>
                        <a:srgbClr val="E8E6DC"/>
                      </a:solidFill>
                    </a:lnR>
                    <a:lnT w="9525">
                      <a:solidFill>
                        <a:srgbClr val="E8E6DC"/>
                      </a:solidFill>
                    </a:lnT>
                    <a:lnB w="9525">
                      <a:solidFill>
                        <a:srgbClr val="E8E6DC"/>
                      </a:solidFill>
                    </a:lnB>
                    <a:solidFill>
                      <a:srgbClr val="F0EEE6"/>
                    </a:solidFill>
                  </a:tcPr>
                </a:tc>
                <a:tc>
                  <a:txBody>
                    <a:bodyPr/>
                    <a:lstStyle/>
                    <a:p>
                      <a:r>
                        <a:rPr sz="1575" b="1">
                          <a:solidFill>
                            <a:srgbClr val="141413"/>
                          </a:solidFill>
                          <a:latin typeface="Poppins"/>
                          <a:ea typeface="Poppins"/>
                          <a:cs typeface="Poppins"/>
                        </a:rPr>
                        <a:t>Speaker</a:t>
                      </a:r>
                    </a:p>
                  </a:txBody>
                  <a:tcPr>
                    <a:lnL w="9525" cap="flat" cmpd="sng" algn="ctr">
                      <a:solidFill>
                        <a:srgbClr val="E8E6DC"/>
                      </a:solidFill>
                      <a:prstDash val="solid"/>
                      <a:round/>
                      <a:headEnd type="none" w="med" len="med"/>
                      <a:tailEnd type="none" w="med" len="med"/>
                    </a:lnL>
                    <a:lnR w="9525">
                      <a:solidFill>
                        <a:srgbClr val="E8E6DC"/>
                      </a:solidFill>
                    </a:lnR>
                    <a:lnT w="9525">
                      <a:solidFill>
                        <a:srgbClr val="E8E6DC"/>
                      </a:solidFill>
                    </a:lnT>
                    <a:lnB w="9525">
                      <a:solidFill>
                        <a:srgbClr val="E8E6DC"/>
                      </a:solidFill>
                    </a:lnB>
                    <a:solidFill>
                      <a:srgbClr val="F0EEE6"/>
                    </a:solidFill>
                  </a:tcPr>
                </a:tc>
                <a:extLst>
                  <a:ext uri="{0D108BD9-81ED-4DB2-BD59-A6C34878D82A}">
                    <a16:rowId xmlns:a16="http://schemas.microsoft.com/office/drawing/2014/main" val="10000"/>
                  </a:ext>
                </a:extLst>
              </a:tr>
              <a:tr h="533400">
                <a:tc>
                  <a:txBody>
                    <a:bodyPr/>
                    <a:lstStyle/>
                    <a:p>
                      <a:r>
                        <a:rPr sz="1725" b="0">
                          <a:solidFill>
                            <a:srgbClr val="141413"/>
                          </a:solidFill>
                          <a:latin typeface="Georgia"/>
                          <a:ea typeface="Georgia"/>
                          <a:cs typeface="Georgia"/>
                        </a:rPr>
                        <a:t>26.85</a:t>
                      </a:r>
                    </a:p>
                  </a:txBody>
                  <a:tcPr>
                    <a:lnL w="9525">
                      <a:solidFill>
                        <a:srgbClr val="E8E6DC"/>
                      </a:solidFill>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725" b="0">
                          <a:solidFill>
                            <a:srgbClr val="141413"/>
                          </a:solidFill>
                          <a:latin typeface="Georgia"/>
                          <a:ea typeface="Georgia"/>
                          <a:cs typeface="Georgia"/>
                        </a:rPr>
                        <a:t>31.75</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725" b="0">
                          <a:solidFill>
                            <a:srgbClr val="141413"/>
                          </a:solidFill>
                          <a:latin typeface="Georgia"/>
                          <a:ea typeface="Georgia"/>
                          <a:cs typeface="Georgia"/>
                        </a:rPr>
                        <a:t>Speaker_A</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extLst>
                  <a:ext uri="{0D108BD9-81ED-4DB2-BD59-A6C34878D82A}">
                    <a16:rowId xmlns:a16="http://schemas.microsoft.com/office/drawing/2014/main" val="10001"/>
                  </a:ext>
                </a:extLst>
              </a:tr>
              <a:tr h="533400">
                <a:tc>
                  <a:txBody>
                    <a:bodyPr/>
                    <a:lstStyle/>
                    <a:p>
                      <a:r>
                        <a:rPr sz="1725" b="0">
                          <a:solidFill>
                            <a:srgbClr val="141413"/>
                          </a:solidFill>
                          <a:latin typeface="Georgia"/>
                          <a:ea typeface="Georgia"/>
                          <a:cs typeface="Georgia"/>
                        </a:rPr>
                        <a:t>31.75</a:t>
                      </a:r>
                    </a:p>
                  </a:txBody>
                  <a:tcPr>
                    <a:lnL w="9525">
                      <a:solidFill>
                        <a:srgbClr val="E8E6DC"/>
                      </a:solidFill>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725" b="0">
                          <a:solidFill>
                            <a:srgbClr val="141413"/>
                          </a:solidFill>
                          <a:latin typeface="Georgia"/>
                          <a:ea typeface="Georgia"/>
                          <a:cs typeface="Georgia"/>
                        </a:rPr>
                        <a:t>33.20</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725" b="0">
                          <a:solidFill>
                            <a:srgbClr val="141413"/>
                          </a:solidFill>
                          <a:latin typeface="Georgia"/>
                          <a:ea typeface="Georgia"/>
                          <a:cs typeface="Georgia"/>
                        </a:rPr>
                        <a:t>Speaker_B</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extLst>
                  <a:ext uri="{0D108BD9-81ED-4DB2-BD59-A6C34878D82A}">
                    <a16:rowId xmlns:a16="http://schemas.microsoft.com/office/drawing/2014/main" val="10002"/>
                  </a:ext>
                </a:extLst>
              </a:tr>
              <a:tr h="533400">
                <a:tc>
                  <a:txBody>
                    <a:bodyPr/>
                    <a:lstStyle/>
                    <a:p>
                      <a:r>
                        <a:rPr sz="1725" b="0">
                          <a:solidFill>
                            <a:srgbClr val="141413"/>
                          </a:solidFill>
                          <a:latin typeface="Georgia"/>
                          <a:ea typeface="Georgia"/>
                          <a:cs typeface="Georgia"/>
                        </a:rPr>
                        <a:t>33.20</a:t>
                      </a:r>
                    </a:p>
                  </a:txBody>
                  <a:tcPr>
                    <a:lnL w="9525">
                      <a:solidFill>
                        <a:srgbClr val="E8E6DC"/>
                      </a:solidFill>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725" b="0">
                          <a:solidFill>
                            <a:srgbClr val="141413"/>
                          </a:solidFill>
                          <a:latin typeface="Georgia"/>
                          <a:ea typeface="Georgia"/>
                          <a:cs typeface="Georgia"/>
                        </a:rPr>
                        <a:t>40.20</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725" b="0">
                          <a:solidFill>
                            <a:srgbClr val="141413"/>
                          </a:solidFill>
                          <a:latin typeface="Georgia"/>
                          <a:ea typeface="Georgia"/>
                          <a:cs typeface="Georgia"/>
                        </a:rPr>
                        <a:t>Speaker_A</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extLst>
                  <a:ext uri="{0D108BD9-81ED-4DB2-BD59-A6C34878D82A}">
                    <a16:rowId xmlns:a16="http://schemas.microsoft.com/office/drawing/2014/main" val="10003"/>
                  </a:ext>
                </a:extLst>
              </a:tr>
            </a:tbl>
          </a:graphicData>
        </a:graphic>
      </p:graphicFrame>
      <p:sp>
        <p:nvSpPr>
          <p:cNvPr id="13" name="Rectangle 12">
            <a:extLst>
              <a:ext uri="{FF2B5EF4-FFF2-40B4-BE49-F238E27FC236}">
                <a16:creationId xmlns:a16="http://schemas.microsoft.com/office/drawing/2014/main" id="{813ED03E-A26B-4BDD-B018-1DCA8C75A5FC}"/>
              </a:ext>
            </a:extLst>
          </p:cNvPr>
          <p:cNvSpPr>
            <a:spLocks noGrp="1"/>
          </p:cNvSpPr>
          <p:nvPr/>
        </p:nvSpPr>
        <p:spPr>
          <a:xfrm>
            <a:off x="6343650" y="5248275"/>
            <a:ext cx="5143500" cy="495300"/>
          </a:xfrm>
          <a:prstGeom prst="rect">
            <a:avLst/>
          </a:prstGeom>
          <a:noFill/>
          <a:ln w="0">
            <a:noFill/>
          </a:ln>
        </p:spPr>
        <p:txBody>
          <a:bodyPr lIns="0" tIns="0" rIns="0" bIns="0" anchor="t"/>
          <a:lstStyle>
            <a:defPPr>
              <a:defRPr sz="2700" b="1">
                <a:solidFill>
                  <a:srgbClr val="D97757"/>
                </a:solidFill>
                <a:latin typeface="Poppins"/>
                <a:ea typeface="Poppins"/>
                <a:cs typeface="Poppins"/>
              </a:defRPr>
            </a:defPPr>
          </a:lstStyle>
          <a:p>
            <a:pPr>
              <a:defRPr sz="2700" b="1">
                <a:solidFill>
                  <a:srgbClr val="D97757"/>
                </a:solidFill>
                <a:latin typeface="Poppins"/>
                <a:ea typeface="Poppins"/>
                <a:cs typeface="Poppins"/>
              </a:defRPr>
            </a:pPr>
            <a:r>
              <a:rPr sz="2700" b="1">
                <a:solidFill>
                  <a:srgbClr val="D97757"/>
                </a:solidFill>
                <a:latin typeface="Poppins"/>
                <a:ea typeface="Poppins"/>
                <a:cs typeface="Poppins"/>
              </a:rPr>
              <a:t>20.3% DER</a:t>
            </a:r>
          </a:p>
        </p:txBody>
      </p:sp>
      <p:sp>
        <p:nvSpPr>
          <p:cNvPr id="14" name="Rectangle 13">
            <a:extLst>
              <a:ext uri="{FF2B5EF4-FFF2-40B4-BE49-F238E27FC236}">
                <a16:creationId xmlns:a16="http://schemas.microsoft.com/office/drawing/2014/main" id="{36784169-7F48-4028-B52E-813FC40FF4EF}"/>
              </a:ext>
            </a:extLst>
          </p:cNvPr>
          <p:cNvSpPr>
            <a:spLocks noGrp="1"/>
          </p:cNvSpPr>
          <p:nvPr/>
        </p:nvSpPr>
        <p:spPr>
          <a:xfrm>
            <a:off x="6343650" y="5791200"/>
            <a:ext cx="5238750" cy="552450"/>
          </a:xfrm>
          <a:prstGeom prst="rect">
            <a:avLst/>
          </a:prstGeom>
          <a:noFill/>
          <a:ln w="0">
            <a:noFill/>
          </a:ln>
        </p:spPr>
        <p:txBody>
          <a:bodyPr lIns="0" tIns="0" rIns="0" bIns="0" anchor="t"/>
          <a:lstStyle>
            <a:defPPr>
              <a:defRPr sz="1500" b="0">
                <a:solidFill>
                  <a:srgbClr val="5E5D59"/>
                </a:solidFill>
                <a:latin typeface="Georgia"/>
                <a:ea typeface="Georgia"/>
                <a:cs typeface="Georgia"/>
              </a:defRPr>
            </a:defPPr>
          </a:lstStyle>
          <a:p>
            <a:pPr>
              <a:defRPr sz="1500" b="0">
                <a:solidFill>
                  <a:srgbClr val="5E5D59"/>
                </a:solidFill>
                <a:latin typeface="Georgia"/>
                <a:ea typeface="Georgia"/>
                <a:cs typeface="Georgia"/>
              </a:defRPr>
            </a:pPr>
            <a:r>
              <a:rPr sz="1500" b="0">
                <a:solidFill>
                  <a:srgbClr val="5E5D59"/>
                </a:solidFill>
                <a:latin typeface="Georgia"/>
                <a:ea typeface="Georgia"/>
                <a:cs typeface="Georgia"/>
              </a:rPr>
              <a:t>Spectral clustering, 72 test conversations</a:t>
            </a:r>
          </a:p>
          <a:p>
            <a:pPr>
              <a:defRPr sz="1500" b="0">
                <a:solidFill>
                  <a:srgbClr val="5E5D59"/>
                </a:solidFill>
                <a:latin typeface="Georgia"/>
                <a:ea typeface="Georgia"/>
                <a:cs typeface="Georgia"/>
              </a:defRPr>
            </a:pPr>
            <a:r>
              <a:rPr sz="1500" b="0">
                <a:solidFill>
                  <a:srgbClr val="5E5D59"/>
                </a:solidFill>
                <a:latin typeface="Georgia"/>
                <a:ea typeface="Georgia"/>
                <a:cs typeface="Georgia"/>
              </a:rPr>
              <a:t>GMM: 20.3%   /   pyannote 3.1: 18.4%</a:t>
            </a:r>
          </a:p>
        </p:txBody>
      </p:sp>
      <p:pic>
        <p:nvPicPr>
          <p:cNvPr id="16" name="Play separated Speaker A">
            <a:hlinkClick action="ppaction://media"/>
            <a:extLst>
              <a:ext uri="{FF2B5EF4-FFF2-40B4-BE49-F238E27FC236}">
                <a16:creationId xmlns:a16="http://schemas.microsoft.com/office/drawing/2014/main" id="{083D3CD1-98AA-5844-2E6A-9D4D2063C86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09601" y="2905125"/>
            <a:ext cx="5129781" cy="1447800"/>
          </a:xfrm>
          <a:prstGeom prst="rect">
            <a:avLst/>
          </a:prstGeom>
        </p:spPr>
      </p:pic>
      <p:pic>
        <p:nvPicPr>
          <p:cNvPr id="17" name="Play separated Speaker B">
            <a:hlinkClick action="ppaction://media"/>
            <a:extLst>
              <a:ext uri="{FF2B5EF4-FFF2-40B4-BE49-F238E27FC236}">
                <a16:creationId xmlns:a16="http://schemas.microsoft.com/office/drawing/2014/main" id="{3703A8D2-C485-9000-9EF2-57EAEB52804C}"/>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09601" y="4457700"/>
            <a:ext cx="5129781" cy="1447800"/>
          </a:xfrm>
          <a:prstGeom prst="rect">
            <a:avLst/>
          </a:prstGeom>
        </p:spPr>
      </p:pic>
    </p:spTree>
    <p:extLst>
      <p:ext uri="{BB962C8B-B14F-4D97-AF65-F5344CB8AC3E}">
        <p14:creationId xmlns:p14="http://schemas.microsoft.com/office/powerpoint/2010/main" val="21180517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16"/>
                                        </p:tgtEl>
                                      </p:cBhvr>
                                    </p:cmd>
                                  </p:childTnLst>
                                </p:cTn>
                              </p:par>
                            </p:childTnLst>
                          </p:cTn>
                        </p:par>
                      </p:childTnLst>
                    </p:cTn>
                  </p:par>
                </p:childTnLst>
              </p:cTn>
              <p:nextCondLst>
                <p:cond evt="onClick" delay="0">
                  <p:tgtEl>
                    <p:spTgt spid="16"/>
                  </p:tgtEl>
                </p:cond>
              </p:nextCondLst>
            </p:seq>
            <p:video>
              <p:cMediaNode vol="10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video>
              <p:cMediaNode vol="100000">
                <p:cTn id="13" fill="hold" display="0">
                  <p:stCondLst>
                    <p:cond delay="indefinite"/>
                  </p:stCondLst>
                </p:cTn>
                <p:tgtEl>
                  <p:spTgt spid="1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4896A10E-340F-48B8-AC89-1FBD2050E9C2}"/>
              </a:ext>
            </a:extLst>
          </p:cNvPr>
          <p:cNvSpPr>
            <a:spLocks noGrp="1"/>
          </p:cNvSpPr>
          <p:nvPr/>
        </p:nvSpPr>
        <p:spPr>
          <a:xfrm>
            <a:off x="609600" y="314325"/>
            <a:ext cx="8572500" cy="209550"/>
          </a:xfrm>
          <a:prstGeom prst="rect">
            <a:avLst/>
          </a:prstGeom>
          <a:noFill/>
          <a:ln w="0">
            <a:noFill/>
          </a:ln>
        </p:spPr>
        <p:txBody>
          <a:bodyPr lIns="0" tIns="0" rIns="0" bIns="0" anchor="t"/>
          <a:lstStyle>
            <a:defPPr>
              <a:defRPr sz="1125" b="0">
                <a:solidFill>
                  <a:srgbClr val="5E5D59"/>
                </a:solidFill>
                <a:latin typeface="Poppins"/>
                <a:ea typeface="Poppins"/>
                <a:cs typeface="Poppins"/>
              </a:defRPr>
            </a:defPPr>
          </a:lstStyle>
          <a:p>
            <a:pPr>
              <a:defRPr sz="1125" b="0">
                <a:solidFill>
                  <a:srgbClr val="5E5D59"/>
                </a:solidFill>
                <a:latin typeface="Poppins"/>
                <a:ea typeface="Poppins"/>
                <a:cs typeface="Poppins"/>
              </a:defRPr>
            </a:pPr>
            <a:r>
              <a:rPr sz="1125" b="0">
                <a:solidFill>
                  <a:srgbClr val="5E5D59"/>
                </a:solidFill>
                <a:latin typeface="Poppins"/>
                <a:ea typeface="Poppins"/>
                <a:cs typeface="Poppins"/>
              </a:rPr>
              <a:t>TEAM vismAI / CS F407</a:t>
            </a:r>
          </a:p>
        </p:txBody>
      </p:sp>
      <p:sp>
        <p:nvSpPr>
          <p:cNvPr id="2" name="Rectangle 1">
            <a:extLst>
              <a:ext uri="{FF2B5EF4-FFF2-40B4-BE49-F238E27FC236}">
                <a16:creationId xmlns:a16="http://schemas.microsoft.com/office/drawing/2014/main" id="{A1883D9B-E0CA-44D1-94E9-5D16A9D173DF}"/>
              </a:ext>
            </a:extLst>
          </p:cNvPr>
          <p:cNvSpPr>
            <a:spLocks noGrp="1"/>
          </p:cNvSpPr>
          <p:nvPr/>
        </p:nvSpPr>
        <p:spPr>
          <a:xfrm>
            <a:off x="609600" y="695325"/>
            <a:ext cx="10972800" cy="619125"/>
          </a:xfrm>
          <a:prstGeom prst="rect">
            <a:avLst/>
          </a:prstGeom>
          <a:noFill/>
          <a:ln w="0">
            <a:noFill/>
          </a:ln>
        </p:spPr>
        <p:txBody>
          <a:bodyPr lIns="0" tIns="0" rIns="0" bIns="0" anchor="t"/>
          <a:lstStyle>
            <a:defPPr>
              <a:defRPr sz="3000" b="1">
                <a:solidFill>
                  <a:srgbClr val="141413"/>
                </a:solidFill>
                <a:latin typeface="Poppins"/>
                <a:ea typeface="Poppins"/>
                <a:cs typeface="Poppins"/>
              </a:defRPr>
            </a:defPPr>
          </a:lstStyle>
          <a:p>
            <a:pPr>
              <a:defRPr sz="3000" b="1">
                <a:solidFill>
                  <a:srgbClr val="141413"/>
                </a:solidFill>
                <a:latin typeface="Poppins"/>
                <a:ea typeface="Poppins"/>
                <a:cs typeface="Poppins"/>
              </a:defRPr>
            </a:pPr>
            <a:r>
              <a:rPr sz="3000" b="1">
                <a:solidFill>
                  <a:srgbClr val="141413"/>
                </a:solidFill>
                <a:latin typeface="Poppins"/>
                <a:ea typeface="Poppins"/>
                <a:cs typeface="Poppins"/>
              </a:rPr>
              <a:t>What the system actually transcribes</a:t>
            </a:r>
          </a:p>
        </p:txBody>
      </p:sp>
      <p:sp>
        <p:nvSpPr>
          <p:cNvPr id="3" name="Rectangle 2">
            <a:extLst>
              <a:ext uri="{FF2B5EF4-FFF2-40B4-BE49-F238E27FC236}">
                <a16:creationId xmlns:a16="http://schemas.microsoft.com/office/drawing/2014/main" id="{BDCB9A84-17C5-487C-A197-9216D04A7C45}"/>
              </a:ext>
            </a:extLst>
          </p:cNvPr>
          <p:cNvSpPr>
            <a:spLocks noGrp="1"/>
          </p:cNvSpPr>
          <p:nvPr/>
        </p:nvSpPr>
        <p:spPr>
          <a:xfrm>
            <a:off x="609600" y="1362075"/>
            <a:ext cx="10972800" cy="552450"/>
          </a:xfrm>
          <a:prstGeom prst="rect">
            <a:avLst/>
          </a:prstGeom>
          <a:noFill/>
          <a:ln w="0">
            <a:noFill/>
          </a:ln>
        </p:spPr>
        <p:txBody>
          <a:bodyPr lIns="0" tIns="0" rIns="0" bIns="0" anchor="t"/>
          <a:lstStyle>
            <a:defPPr>
              <a:defRPr sz="1575" b="0">
                <a:solidFill>
                  <a:srgbClr val="5E5D59"/>
                </a:solidFill>
                <a:latin typeface="Georgia"/>
                <a:ea typeface="Georgia"/>
                <a:cs typeface="Georgia"/>
              </a:defRPr>
            </a:defPPr>
          </a:lstStyle>
          <a:p>
            <a:pPr>
              <a:defRPr sz="1575" b="0">
                <a:solidFill>
                  <a:srgbClr val="5E5D59"/>
                </a:solidFill>
                <a:latin typeface="Georgia"/>
                <a:ea typeface="Georgia"/>
                <a:cs typeface="Georgia"/>
              </a:defRPr>
            </a:pPr>
            <a:r>
              <a:rPr sz="1575" b="0">
                <a:solidFill>
                  <a:srgbClr val="5E5D59"/>
                </a:solidFill>
                <a:latin typeface="Georgia"/>
                <a:ea typeface="Georgia"/>
                <a:cs typeface="Georgia"/>
              </a:rPr>
              <a:t>M3 / Abhinav     IndicConformer speech recognition, Hinglish text and subtitle files</a:t>
            </a:r>
          </a:p>
        </p:txBody>
      </p:sp>
      <p:sp>
        <p:nvSpPr>
          <p:cNvPr id="4" name="Rectangle 3">
            <a:extLst>
              <a:ext uri="{FF2B5EF4-FFF2-40B4-BE49-F238E27FC236}">
                <a16:creationId xmlns:a16="http://schemas.microsoft.com/office/drawing/2014/main" id="{CB527623-7BF8-463B-905A-19EA3724BC50}"/>
              </a:ext>
            </a:extLst>
          </p:cNvPr>
          <p:cNvSpPr>
            <a:spLocks noGrp="1"/>
          </p:cNvSpPr>
          <p:nvPr/>
        </p:nvSpPr>
        <p:spPr>
          <a:xfrm>
            <a:off x="609600" y="6486525"/>
            <a:ext cx="10972800" cy="209550"/>
          </a:xfrm>
          <a:prstGeom prst="rect">
            <a:avLst/>
          </a:prstGeom>
          <a:noFill/>
          <a:ln w="0">
            <a:noFill/>
          </a:ln>
        </p:spPr>
        <p:txBody>
          <a:bodyPr lIns="0" tIns="0" rIns="0" bIns="0" anchor="t"/>
          <a:lstStyle>
            <a:defPPr>
              <a:defRPr sz="1050" b="0">
                <a:solidFill>
                  <a:srgbClr val="5E5D59"/>
                </a:solidFill>
                <a:latin typeface="Poppins"/>
                <a:ea typeface="Poppins"/>
                <a:cs typeface="Poppins"/>
              </a:defRPr>
            </a:defPPr>
          </a:lstStyle>
          <a:p>
            <a:pPr>
              <a:defRPr sz="1050" b="0">
                <a:solidFill>
                  <a:srgbClr val="5E5D59"/>
                </a:solidFill>
                <a:latin typeface="Poppins"/>
                <a:ea typeface="Poppins"/>
                <a:cs typeface="Poppins"/>
              </a:defRPr>
            </a:pPr>
            <a:r>
              <a:rPr sz="1050" b="0">
                <a:solidFill>
                  <a:srgbClr val="5E5D59"/>
                </a:solidFill>
                <a:latin typeface="Poppins"/>
                <a:ea typeface="Poppins"/>
                <a:cs typeface="Poppins"/>
              </a:rPr>
              <a:t>whospoke     2 / 3</a:t>
            </a:r>
          </a:p>
        </p:txBody>
      </p:sp>
      <p:sp>
        <p:nvSpPr>
          <p:cNvPr id="5" name="Rectangle 4">
            <a:extLst>
              <a:ext uri="{FF2B5EF4-FFF2-40B4-BE49-F238E27FC236}">
                <a16:creationId xmlns:a16="http://schemas.microsoft.com/office/drawing/2014/main" id="{884E8417-8992-44AE-8D54-5ACEC02AC19F}"/>
              </a:ext>
            </a:extLst>
          </p:cNvPr>
          <p:cNvSpPr>
            <a:spLocks noGrp="1"/>
          </p:cNvSpPr>
          <p:nvPr/>
        </p:nvSpPr>
        <p:spPr>
          <a:xfrm>
            <a:off x="609600" y="2076450"/>
            <a:ext cx="6858000" cy="266700"/>
          </a:xfrm>
          <a:prstGeom prst="rect">
            <a:avLst/>
          </a:prstGeom>
          <a:noFill/>
          <a:ln w="0">
            <a:noFill/>
          </a:ln>
        </p:spPr>
        <p:txBody>
          <a:bodyPr lIns="0" tIns="0" rIns="0" bIns="0" anchor="t"/>
          <a:lstStyle>
            <a:defPPr>
              <a:defRPr sz="1275" b="0">
                <a:solidFill>
                  <a:srgbClr val="5E5D59"/>
                </a:solidFill>
                <a:latin typeface="Poppins"/>
                <a:ea typeface="Poppins"/>
                <a:cs typeface="Poppins"/>
              </a:defRPr>
            </a:defPPr>
          </a:lstStyle>
          <a:p>
            <a:pPr>
              <a:defRPr sz="1275" b="0">
                <a:solidFill>
                  <a:srgbClr val="5E5D59"/>
                </a:solidFill>
                <a:latin typeface="Poppins"/>
                <a:ea typeface="Poppins"/>
                <a:cs typeface="Poppins"/>
              </a:defRPr>
            </a:pPr>
            <a:r>
              <a:rPr sz="1275" b="0">
                <a:solidFill>
                  <a:srgbClr val="5E5D59"/>
                </a:solidFill>
                <a:latin typeface="Poppins"/>
                <a:ea typeface="Poppins"/>
                <a:cs typeface="Poppins"/>
              </a:rPr>
              <a:t>SAVED HINGLISH TRANSCRIPT</a:t>
            </a:r>
          </a:p>
        </p:txBody>
      </p:sp>
      <p:sp>
        <p:nvSpPr>
          <p:cNvPr id="6" name="Rectangle 5">
            <a:extLst>
              <a:ext uri="{FF2B5EF4-FFF2-40B4-BE49-F238E27FC236}">
                <a16:creationId xmlns:a16="http://schemas.microsoft.com/office/drawing/2014/main" id="{BA4791C6-7396-478A-930E-779685A6B062}"/>
              </a:ext>
            </a:extLst>
          </p:cNvPr>
          <p:cNvSpPr>
            <a:spLocks noGrp="1"/>
          </p:cNvSpPr>
          <p:nvPr/>
        </p:nvSpPr>
        <p:spPr>
          <a:xfrm>
            <a:off x="609600" y="2524125"/>
            <a:ext cx="6572250" cy="266700"/>
          </a:xfrm>
          <a:prstGeom prst="rect">
            <a:avLst/>
          </a:prstGeom>
          <a:noFill/>
          <a:ln w="0">
            <a:noFill/>
          </a:ln>
        </p:spPr>
        <p:txBody>
          <a:bodyPr lIns="0" tIns="0" rIns="0" bIns="0" anchor="t"/>
          <a:lstStyle>
            <a:defPPr>
              <a:defRPr sz="1500" b="1">
                <a:solidFill>
                  <a:srgbClr val="D97757"/>
                </a:solidFill>
                <a:latin typeface="Poppins"/>
                <a:ea typeface="Poppins"/>
                <a:cs typeface="Poppins"/>
              </a:defRPr>
            </a:defPPr>
          </a:lstStyle>
          <a:p>
            <a:pPr>
              <a:defRPr sz="1500" b="1">
                <a:solidFill>
                  <a:srgbClr val="D97757"/>
                </a:solidFill>
                <a:latin typeface="Poppins"/>
                <a:ea typeface="Poppins"/>
                <a:cs typeface="Poppins"/>
              </a:defRPr>
            </a:pPr>
            <a:r>
              <a:rPr sz="1500" b="1">
                <a:solidFill>
                  <a:srgbClr val="D97757"/>
                </a:solidFill>
                <a:latin typeface="Poppins"/>
                <a:ea typeface="Poppins"/>
                <a:cs typeface="Poppins"/>
              </a:rPr>
              <a:t>00:27–00:32   Speaker_A</a:t>
            </a:r>
          </a:p>
        </p:txBody>
      </p:sp>
      <p:sp>
        <p:nvSpPr>
          <p:cNvPr id="7" name="Rectangle 6">
            <a:extLst>
              <a:ext uri="{FF2B5EF4-FFF2-40B4-BE49-F238E27FC236}">
                <a16:creationId xmlns:a16="http://schemas.microsoft.com/office/drawing/2014/main" id="{CFFA21CB-02B3-4634-BDE9-FC96A4E6D880}"/>
              </a:ext>
            </a:extLst>
          </p:cNvPr>
          <p:cNvSpPr>
            <a:spLocks noGrp="1"/>
          </p:cNvSpPr>
          <p:nvPr/>
        </p:nvSpPr>
        <p:spPr>
          <a:xfrm>
            <a:off x="609600" y="2867025"/>
            <a:ext cx="6477000" cy="762000"/>
          </a:xfrm>
          <a:prstGeom prst="rect">
            <a:avLst/>
          </a:prstGeom>
          <a:noFill/>
          <a:ln w="0">
            <a:noFill/>
          </a:ln>
        </p:spPr>
        <p:txBody>
          <a:bodyPr lIns="0" tIns="0" rIns="0" bIns="0" anchor="t"/>
          <a:lstStyle>
            <a:defPPr>
              <a:defRPr sz="1800" b="0">
                <a:solidFill>
                  <a:srgbClr val="141413"/>
                </a:solidFill>
                <a:latin typeface="Georgia"/>
                <a:ea typeface="Georgia"/>
                <a:cs typeface="Georgia"/>
              </a:defRPr>
            </a:defPPr>
          </a:lstStyle>
          <a:p>
            <a:pPr>
              <a:defRPr sz="1800" b="0">
                <a:solidFill>
                  <a:srgbClr val="141413"/>
                </a:solidFill>
                <a:latin typeface="Georgia"/>
                <a:ea typeface="Georgia"/>
                <a:cs typeface="Georgia"/>
              </a:defRPr>
            </a:pPr>
            <a:r>
              <a:rPr sz="1800" b="0">
                <a:solidFill>
                  <a:srgbClr val="141413"/>
                </a:solidFill>
                <a:latin typeface="Georgia"/>
                <a:ea typeface="Georgia"/>
                <a:cs typeface="Georgia"/>
              </a:rPr>
              <a:t>sir mere koi galti hui mere haath se wo mera aai D card gum ho gaya hai sir</a:t>
            </a:r>
          </a:p>
        </p:txBody>
      </p:sp>
      <p:sp>
        <p:nvSpPr>
          <p:cNvPr id="8" name="Rectangle 7">
            <a:extLst>
              <a:ext uri="{FF2B5EF4-FFF2-40B4-BE49-F238E27FC236}">
                <a16:creationId xmlns:a16="http://schemas.microsoft.com/office/drawing/2014/main" id="{36BE9103-E3DA-4A9E-8FDC-79E1C7A445C4}"/>
              </a:ext>
            </a:extLst>
          </p:cNvPr>
          <p:cNvSpPr>
            <a:spLocks noGrp="1"/>
          </p:cNvSpPr>
          <p:nvPr/>
        </p:nvSpPr>
        <p:spPr>
          <a:xfrm>
            <a:off x="609600" y="3676650"/>
            <a:ext cx="6572250" cy="266700"/>
          </a:xfrm>
          <a:prstGeom prst="rect">
            <a:avLst/>
          </a:prstGeom>
          <a:noFill/>
          <a:ln w="0">
            <a:noFill/>
          </a:ln>
        </p:spPr>
        <p:txBody>
          <a:bodyPr lIns="0" tIns="0" rIns="0" bIns="0" anchor="t"/>
          <a:lstStyle>
            <a:defPPr>
              <a:defRPr sz="1500" b="1">
                <a:solidFill>
                  <a:srgbClr val="6A9BCC"/>
                </a:solidFill>
                <a:latin typeface="Poppins"/>
                <a:ea typeface="Poppins"/>
                <a:cs typeface="Poppins"/>
              </a:defRPr>
            </a:defPPr>
          </a:lstStyle>
          <a:p>
            <a:pPr>
              <a:defRPr sz="1500" b="1">
                <a:solidFill>
                  <a:srgbClr val="6A9BCC"/>
                </a:solidFill>
                <a:latin typeface="Poppins"/>
                <a:ea typeface="Poppins"/>
                <a:cs typeface="Poppins"/>
              </a:defRPr>
            </a:pPr>
            <a:r>
              <a:rPr sz="1500" b="1">
                <a:solidFill>
                  <a:srgbClr val="6A9BCC"/>
                </a:solidFill>
                <a:latin typeface="Poppins"/>
                <a:ea typeface="Poppins"/>
                <a:cs typeface="Poppins"/>
              </a:rPr>
              <a:t>00:32–00:33   Speaker_B</a:t>
            </a:r>
          </a:p>
        </p:txBody>
      </p:sp>
      <p:sp>
        <p:nvSpPr>
          <p:cNvPr id="9" name="Rectangle 8">
            <a:extLst>
              <a:ext uri="{FF2B5EF4-FFF2-40B4-BE49-F238E27FC236}">
                <a16:creationId xmlns:a16="http://schemas.microsoft.com/office/drawing/2014/main" id="{D59B0E5D-6438-473D-BD62-9E097DFB2B4B}"/>
              </a:ext>
            </a:extLst>
          </p:cNvPr>
          <p:cNvSpPr>
            <a:spLocks noGrp="1"/>
          </p:cNvSpPr>
          <p:nvPr/>
        </p:nvSpPr>
        <p:spPr>
          <a:xfrm>
            <a:off x="609600" y="4019550"/>
            <a:ext cx="6477000" cy="762000"/>
          </a:xfrm>
          <a:prstGeom prst="rect">
            <a:avLst/>
          </a:prstGeom>
          <a:noFill/>
          <a:ln w="0">
            <a:noFill/>
          </a:ln>
        </p:spPr>
        <p:txBody>
          <a:bodyPr lIns="0" tIns="0" rIns="0" bIns="0" anchor="t"/>
          <a:lstStyle>
            <a:defPPr>
              <a:defRPr sz="1800" b="0">
                <a:solidFill>
                  <a:srgbClr val="141413"/>
                </a:solidFill>
                <a:latin typeface="Georgia"/>
                <a:ea typeface="Georgia"/>
                <a:cs typeface="Georgia"/>
              </a:defRPr>
            </a:defPPr>
          </a:lstStyle>
          <a:p>
            <a:pPr>
              <a:defRPr sz="1800" b="0">
                <a:solidFill>
                  <a:srgbClr val="141413"/>
                </a:solidFill>
                <a:latin typeface="Georgia"/>
                <a:ea typeface="Georgia"/>
                <a:cs typeface="Georgia"/>
              </a:defRPr>
            </a:pPr>
            <a:r>
              <a:rPr sz="1800" b="0">
                <a:solidFill>
                  <a:srgbClr val="141413"/>
                </a:solidFill>
                <a:latin typeface="Georgia"/>
                <a:ea typeface="Georgia"/>
                <a:cs typeface="Georgia"/>
              </a:rPr>
              <a:t>haan aur baki sun</a:t>
            </a:r>
          </a:p>
        </p:txBody>
      </p:sp>
      <p:sp>
        <p:nvSpPr>
          <p:cNvPr id="10" name="Rectangle 9">
            <a:extLst>
              <a:ext uri="{FF2B5EF4-FFF2-40B4-BE49-F238E27FC236}">
                <a16:creationId xmlns:a16="http://schemas.microsoft.com/office/drawing/2014/main" id="{2106CE00-72DF-4BCA-82A6-3376590610C3}"/>
              </a:ext>
            </a:extLst>
          </p:cNvPr>
          <p:cNvSpPr>
            <a:spLocks noGrp="1"/>
          </p:cNvSpPr>
          <p:nvPr/>
        </p:nvSpPr>
        <p:spPr>
          <a:xfrm>
            <a:off x="609600" y="4829175"/>
            <a:ext cx="6572250" cy="266700"/>
          </a:xfrm>
          <a:prstGeom prst="rect">
            <a:avLst/>
          </a:prstGeom>
          <a:noFill/>
          <a:ln w="0">
            <a:noFill/>
          </a:ln>
        </p:spPr>
        <p:txBody>
          <a:bodyPr lIns="0" tIns="0" rIns="0" bIns="0" anchor="t"/>
          <a:lstStyle>
            <a:defPPr>
              <a:defRPr sz="1500" b="1">
                <a:solidFill>
                  <a:srgbClr val="D97757"/>
                </a:solidFill>
                <a:latin typeface="Poppins"/>
                <a:ea typeface="Poppins"/>
                <a:cs typeface="Poppins"/>
              </a:defRPr>
            </a:defPPr>
          </a:lstStyle>
          <a:p>
            <a:pPr>
              <a:defRPr sz="1500" b="1">
                <a:solidFill>
                  <a:srgbClr val="D97757"/>
                </a:solidFill>
                <a:latin typeface="Poppins"/>
                <a:ea typeface="Poppins"/>
                <a:cs typeface="Poppins"/>
              </a:defRPr>
            </a:pPr>
            <a:r>
              <a:rPr sz="1500" b="1">
                <a:solidFill>
                  <a:srgbClr val="D97757"/>
                </a:solidFill>
                <a:latin typeface="Poppins"/>
                <a:ea typeface="Poppins"/>
                <a:cs typeface="Poppins"/>
              </a:rPr>
              <a:t>00:51–00:54   Speaker_A</a:t>
            </a:r>
          </a:p>
        </p:txBody>
      </p:sp>
      <p:sp>
        <p:nvSpPr>
          <p:cNvPr id="11" name="Rectangle 10">
            <a:extLst>
              <a:ext uri="{FF2B5EF4-FFF2-40B4-BE49-F238E27FC236}">
                <a16:creationId xmlns:a16="http://schemas.microsoft.com/office/drawing/2014/main" id="{5D8F8F84-4504-4D20-9F1B-732E36AA3229}"/>
              </a:ext>
            </a:extLst>
          </p:cNvPr>
          <p:cNvSpPr>
            <a:spLocks noGrp="1"/>
          </p:cNvSpPr>
          <p:nvPr/>
        </p:nvSpPr>
        <p:spPr>
          <a:xfrm>
            <a:off x="609600" y="5172075"/>
            <a:ext cx="6477000" cy="762000"/>
          </a:xfrm>
          <a:prstGeom prst="rect">
            <a:avLst/>
          </a:prstGeom>
          <a:noFill/>
          <a:ln w="0">
            <a:noFill/>
          </a:ln>
        </p:spPr>
        <p:txBody>
          <a:bodyPr lIns="0" tIns="0" rIns="0" bIns="0" anchor="t"/>
          <a:lstStyle>
            <a:defPPr>
              <a:defRPr sz="1800" b="0">
                <a:solidFill>
                  <a:srgbClr val="141413"/>
                </a:solidFill>
                <a:latin typeface="Georgia"/>
                <a:ea typeface="Georgia"/>
                <a:cs typeface="Georgia"/>
              </a:defRPr>
            </a:defPPr>
          </a:lstStyle>
          <a:p>
            <a:pPr>
              <a:defRPr sz="1800" b="0">
                <a:solidFill>
                  <a:srgbClr val="141413"/>
                </a:solidFill>
                <a:latin typeface="Georgia"/>
                <a:ea typeface="Georgia"/>
                <a:cs typeface="Georgia"/>
              </a:defRPr>
            </a:pPr>
            <a:r>
              <a:rPr sz="1800" b="0">
                <a:solidFill>
                  <a:srgbClr val="141413"/>
                </a:solidFill>
                <a:latin typeface="Georgia"/>
                <a:ea typeface="Georgia"/>
                <a:cs typeface="Georgia"/>
              </a:rPr>
              <a:t>to ab kab tak kitne baje tak office khula hai sir apna</a:t>
            </a:r>
          </a:p>
        </p:txBody>
      </p:sp>
      <p:sp>
        <p:nvSpPr>
          <p:cNvPr id="12" name="Rectangle 11">
            <a:extLst>
              <a:ext uri="{FF2B5EF4-FFF2-40B4-BE49-F238E27FC236}">
                <a16:creationId xmlns:a16="http://schemas.microsoft.com/office/drawing/2014/main" id="{3728B635-2223-45F3-965B-AC85E887446F}"/>
              </a:ext>
            </a:extLst>
          </p:cNvPr>
          <p:cNvSpPr>
            <a:spLocks noGrp="1"/>
          </p:cNvSpPr>
          <p:nvPr/>
        </p:nvSpPr>
        <p:spPr>
          <a:xfrm>
            <a:off x="609600" y="6115050"/>
            <a:ext cx="6762750" cy="285750"/>
          </a:xfrm>
          <a:prstGeom prst="rect">
            <a:avLst/>
          </a:prstGeom>
          <a:noFill/>
          <a:ln w="0">
            <a:noFill/>
          </a:ln>
        </p:spPr>
        <p:txBody>
          <a:bodyPr lIns="0" tIns="0" rIns="0" bIns="0" anchor="t"/>
          <a:lstStyle>
            <a:defPPr>
              <a:defRPr sz="1500" b="0">
                <a:solidFill>
                  <a:srgbClr val="5E5D59"/>
                </a:solidFill>
                <a:latin typeface="Poppins"/>
                <a:ea typeface="Poppins"/>
                <a:cs typeface="Poppins"/>
              </a:defRPr>
            </a:defPPr>
          </a:lstStyle>
          <a:p>
            <a:pPr>
              <a:defRPr sz="1500" b="0">
                <a:solidFill>
                  <a:srgbClr val="5E5D59"/>
                </a:solidFill>
                <a:latin typeface="Poppins"/>
                <a:ea typeface="Poppins"/>
                <a:cs typeface="Poppins"/>
              </a:defRPr>
            </a:pPr>
            <a:r>
              <a:rPr sz="1500" b="0">
                <a:solidFill>
                  <a:srgbClr val="5E5D59"/>
                </a:solidFill>
                <a:latin typeface="Poppins"/>
                <a:ea typeface="Poppins"/>
                <a:cs typeface="Poppins"/>
              </a:rPr>
              <a:t>Devanagari + Hinglish + SRT + JSON</a:t>
            </a:r>
          </a:p>
        </p:txBody>
      </p:sp>
      <p:sp>
        <p:nvSpPr>
          <p:cNvPr id="13" name="Rectangle 12">
            <a:extLst>
              <a:ext uri="{FF2B5EF4-FFF2-40B4-BE49-F238E27FC236}">
                <a16:creationId xmlns:a16="http://schemas.microsoft.com/office/drawing/2014/main" id="{C34934BE-B334-4DF6-8B28-85D64BFDF8AC}"/>
              </a:ext>
            </a:extLst>
          </p:cNvPr>
          <p:cNvSpPr>
            <a:spLocks noGrp="1"/>
          </p:cNvSpPr>
          <p:nvPr/>
        </p:nvSpPr>
        <p:spPr>
          <a:xfrm>
            <a:off x="7753350" y="2076450"/>
            <a:ext cx="3829050" cy="457200"/>
          </a:xfrm>
          <a:prstGeom prst="rect">
            <a:avLst/>
          </a:prstGeom>
          <a:noFill/>
          <a:ln w="0">
            <a:noFill/>
          </a:ln>
        </p:spPr>
        <p:txBody>
          <a:bodyPr lIns="0" tIns="0" rIns="0" bIns="0" anchor="t"/>
          <a:lstStyle>
            <a:defPPr>
              <a:defRPr sz="2325" b="1">
                <a:solidFill>
                  <a:srgbClr val="D97757"/>
                </a:solidFill>
                <a:latin typeface="Poppins"/>
                <a:ea typeface="Poppins"/>
                <a:cs typeface="Poppins"/>
              </a:defRPr>
            </a:defPPr>
          </a:lstStyle>
          <a:p>
            <a:pPr>
              <a:defRPr sz="2325" b="1">
                <a:solidFill>
                  <a:srgbClr val="D97757"/>
                </a:solidFill>
                <a:latin typeface="Poppins"/>
                <a:ea typeface="Poppins"/>
                <a:cs typeface="Poppins"/>
              </a:defRPr>
            </a:pPr>
            <a:r>
              <a:rPr sz="2325" b="1">
                <a:solidFill>
                  <a:srgbClr val="D97757"/>
                </a:solidFill>
                <a:latin typeface="Poppins"/>
                <a:ea typeface="Poppins"/>
                <a:cs typeface="Poppins"/>
              </a:rPr>
              <a:t>21.0% word error</a:t>
            </a:r>
          </a:p>
        </p:txBody>
      </p:sp>
      <p:sp>
        <p:nvSpPr>
          <p:cNvPr id="14" name="Rectangle 13">
            <a:extLst>
              <a:ext uri="{FF2B5EF4-FFF2-40B4-BE49-F238E27FC236}">
                <a16:creationId xmlns:a16="http://schemas.microsoft.com/office/drawing/2014/main" id="{95EE93E2-2FB1-4EDD-986E-1989ADC4593A}"/>
              </a:ext>
            </a:extLst>
          </p:cNvPr>
          <p:cNvSpPr>
            <a:spLocks noGrp="1"/>
          </p:cNvSpPr>
          <p:nvPr/>
        </p:nvSpPr>
        <p:spPr>
          <a:xfrm>
            <a:off x="7753350" y="2619375"/>
            <a:ext cx="3829050" cy="619125"/>
          </a:xfrm>
          <a:prstGeom prst="rect">
            <a:avLst/>
          </a:prstGeom>
          <a:noFill/>
          <a:ln w="0">
            <a:noFill/>
          </a:ln>
        </p:spPr>
        <p:txBody>
          <a:bodyPr lIns="0" tIns="0" rIns="0" bIns="0" anchor="t"/>
          <a:lstStyle>
            <a:defPPr>
              <a:defRPr sz="1500" b="0">
                <a:solidFill>
                  <a:srgbClr val="5E5D59"/>
                </a:solidFill>
                <a:latin typeface="Georgia"/>
                <a:ea typeface="Georgia"/>
                <a:cs typeface="Georgia"/>
              </a:defRPr>
            </a:defPPr>
          </a:lstStyle>
          <a:p>
            <a:pPr>
              <a:defRPr sz="1500" b="0">
                <a:solidFill>
                  <a:srgbClr val="5E5D59"/>
                </a:solidFill>
                <a:latin typeface="Georgia"/>
                <a:ea typeface="Georgia"/>
                <a:cs typeface="Georgia"/>
              </a:defRPr>
            </a:pPr>
            <a:r>
              <a:rPr sz="1500" b="0">
                <a:solidFill>
                  <a:srgbClr val="5E5D59"/>
                </a:solidFill>
                <a:latin typeface="Georgia"/>
                <a:ea typeface="Georgia"/>
                <a:cs typeface="Georgia"/>
              </a:rPr>
              <a:t>IndicWav2Vec: 38.0%</a:t>
            </a:r>
          </a:p>
          <a:p>
            <a:pPr>
              <a:defRPr sz="1500" b="0">
                <a:solidFill>
                  <a:srgbClr val="5E5D59"/>
                </a:solidFill>
                <a:latin typeface="Georgia"/>
                <a:ea typeface="Georgia"/>
                <a:cs typeface="Georgia"/>
              </a:defRPr>
            </a:pPr>
            <a:r>
              <a:rPr sz="1500" b="0">
                <a:solidFill>
                  <a:srgbClr val="5E5D59"/>
                </a:solidFill>
                <a:latin typeface="Georgia"/>
                <a:ea typeface="Georgia"/>
                <a:cs typeface="Georgia"/>
              </a:rPr>
              <a:t>400 Vaani clips, single-speaker ASR</a:t>
            </a:r>
          </a:p>
        </p:txBody>
      </p:sp>
      <p:sp>
        <p:nvSpPr>
          <p:cNvPr id="15" name="Rectangle 14">
            <a:extLst>
              <a:ext uri="{FF2B5EF4-FFF2-40B4-BE49-F238E27FC236}">
                <a16:creationId xmlns:a16="http://schemas.microsoft.com/office/drawing/2014/main" id="{C9DC0D99-CCE7-448F-97E7-1EE7D7D3F713}"/>
              </a:ext>
            </a:extLst>
          </p:cNvPr>
          <p:cNvSpPr>
            <a:spLocks noGrp="1"/>
          </p:cNvSpPr>
          <p:nvPr/>
        </p:nvSpPr>
        <p:spPr>
          <a:xfrm>
            <a:off x="7753350" y="3476625"/>
            <a:ext cx="3829050" cy="266700"/>
          </a:xfrm>
          <a:prstGeom prst="rect">
            <a:avLst/>
          </a:prstGeom>
          <a:noFill/>
          <a:ln w="0">
            <a:noFill/>
          </a:ln>
        </p:spPr>
        <p:txBody>
          <a:bodyPr lIns="0" tIns="0" rIns="0" bIns="0" anchor="t"/>
          <a:lstStyle>
            <a:defPPr>
              <a:defRPr sz="1200" b="0">
                <a:solidFill>
                  <a:srgbClr val="5E5D59"/>
                </a:solidFill>
                <a:latin typeface="Poppins"/>
                <a:ea typeface="Poppins"/>
                <a:cs typeface="Poppins"/>
              </a:defRPr>
            </a:defPPr>
          </a:lstStyle>
          <a:p>
            <a:pPr>
              <a:defRPr sz="1200" b="0">
                <a:solidFill>
                  <a:srgbClr val="5E5D59"/>
                </a:solidFill>
                <a:latin typeface="Poppins"/>
                <a:ea typeface="Poppins"/>
                <a:cs typeface="Poppins"/>
              </a:defRPr>
            </a:pPr>
            <a:r>
              <a:rPr sz="1200" b="0">
                <a:solidFill>
                  <a:srgbClr val="5E5D59"/>
                </a:solidFill>
                <a:latin typeface="Poppins"/>
                <a:ea typeface="Poppins"/>
                <a:cs typeface="Poppins"/>
              </a:rPr>
              <a:t>FULL PIPELINE / 72 CONVERSATIONS</a:t>
            </a:r>
          </a:p>
        </p:txBody>
      </p:sp>
      <p:graphicFrame>
        <p:nvGraphicFramePr>
          <p:cNvPr id="16" name="Table 15">
            <a:extLst>
              <a:ext uri="{FF2B5EF4-FFF2-40B4-BE49-F238E27FC236}">
                <a16:creationId xmlns:a16="http://schemas.microsoft.com/office/drawing/2014/main" id="{1E7AEADC-B7A6-43BC-A89D-5955CEC26359}"/>
              </a:ext>
            </a:extLst>
          </p:cNvPr>
          <p:cNvGraphicFramePr/>
          <p:nvPr/>
        </p:nvGraphicFramePr>
        <p:xfrm>
          <a:off x="7753350" y="3895725"/>
          <a:ext cx="3829050" cy="1485900"/>
        </p:xfrm>
        <a:graphic>
          <a:graphicData uri="http://schemas.openxmlformats.org/drawingml/2006/table">
            <a:tbl>
              <a:tblPr/>
              <a:tblGrid>
                <a:gridCol w="2524125">
                  <a:extLst>
                    <a:ext uri="{9D8B030D-6E8A-4147-A177-3AD203B41FA5}">
                      <a16:colId xmlns:a16="http://schemas.microsoft.com/office/drawing/2014/main" val="20000"/>
                    </a:ext>
                  </a:extLst>
                </a:gridCol>
                <a:gridCol w="1304925">
                  <a:extLst>
                    <a:ext uri="{9D8B030D-6E8A-4147-A177-3AD203B41FA5}">
                      <a16:colId xmlns:a16="http://schemas.microsoft.com/office/drawing/2014/main" val="20001"/>
                    </a:ext>
                  </a:extLst>
                </a:gridCol>
              </a:tblGrid>
              <a:tr h="495300">
                <a:tc>
                  <a:txBody>
                    <a:bodyPr/>
                    <a:lstStyle/>
                    <a:p>
                      <a:r>
                        <a:rPr sz="1350" b="1">
                          <a:solidFill>
                            <a:srgbClr val="141413"/>
                          </a:solidFill>
                          <a:latin typeface="Poppins"/>
                          <a:ea typeface="Poppins"/>
                          <a:cs typeface="Poppins"/>
                        </a:rPr>
                        <a:t>Order</a:t>
                      </a:r>
                    </a:p>
                  </a:txBody>
                  <a:tcPr>
                    <a:lnL w="9525">
                      <a:solidFill>
                        <a:srgbClr val="E8E6DC"/>
                      </a:solidFill>
                    </a:lnL>
                    <a:lnR w="9525">
                      <a:solidFill>
                        <a:srgbClr val="E8E6DC"/>
                      </a:solidFill>
                    </a:lnR>
                    <a:lnT w="9525">
                      <a:solidFill>
                        <a:srgbClr val="E8E6DC"/>
                      </a:solidFill>
                    </a:lnT>
                    <a:lnB w="9525">
                      <a:solidFill>
                        <a:srgbClr val="E8E6DC"/>
                      </a:solidFill>
                    </a:lnB>
                    <a:solidFill>
                      <a:srgbClr val="F0EEE6"/>
                    </a:solidFill>
                  </a:tcPr>
                </a:tc>
                <a:tc>
                  <a:txBody>
                    <a:bodyPr/>
                    <a:lstStyle/>
                    <a:p>
                      <a:r>
                        <a:rPr sz="1350" b="1">
                          <a:solidFill>
                            <a:srgbClr val="141413"/>
                          </a:solidFill>
                          <a:latin typeface="Poppins"/>
                          <a:ea typeface="Poppins"/>
                          <a:cs typeface="Poppins"/>
                        </a:rPr>
                        <a:t>cpWER</a:t>
                      </a:r>
                    </a:p>
                  </a:txBody>
                  <a:tcPr>
                    <a:lnL w="9525" cap="flat" cmpd="sng" algn="ctr">
                      <a:solidFill>
                        <a:srgbClr val="E8E6DC"/>
                      </a:solidFill>
                      <a:prstDash val="solid"/>
                      <a:round/>
                      <a:headEnd type="none" w="med" len="med"/>
                      <a:tailEnd type="none" w="med" len="med"/>
                    </a:lnL>
                    <a:lnR w="9525">
                      <a:solidFill>
                        <a:srgbClr val="E8E6DC"/>
                      </a:solidFill>
                    </a:lnR>
                    <a:lnT w="9525">
                      <a:solidFill>
                        <a:srgbClr val="E8E6DC"/>
                      </a:solidFill>
                    </a:lnT>
                    <a:lnB w="9525">
                      <a:solidFill>
                        <a:srgbClr val="E8E6DC"/>
                      </a:solidFill>
                    </a:lnB>
                    <a:solidFill>
                      <a:srgbClr val="F0EEE6"/>
                    </a:solidFill>
                  </a:tcPr>
                </a:tc>
                <a:extLst>
                  <a:ext uri="{0D108BD9-81ED-4DB2-BD59-A6C34878D82A}">
                    <a16:rowId xmlns:a16="http://schemas.microsoft.com/office/drawing/2014/main" val="10000"/>
                  </a:ext>
                </a:extLst>
              </a:tr>
              <a:tr h="495300">
                <a:tc>
                  <a:txBody>
                    <a:bodyPr/>
                    <a:lstStyle/>
                    <a:p>
                      <a:r>
                        <a:rPr sz="1500" b="0">
                          <a:solidFill>
                            <a:srgbClr val="141413"/>
                          </a:solidFill>
                          <a:latin typeface="Georgia"/>
                          <a:ea typeface="Georgia"/>
                          <a:cs typeface="Georgia"/>
                        </a:rPr>
                        <a:t>A: separate first</a:t>
                      </a:r>
                    </a:p>
                  </a:txBody>
                  <a:tcPr>
                    <a:lnL w="9525">
                      <a:solidFill>
                        <a:srgbClr val="E8E6DC"/>
                      </a:solidFill>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500" b="0">
                          <a:solidFill>
                            <a:srgbClr val="141413"/>
                          </a:solidFill>
                          <a:latin typeface="Georgia"/>
                          <a:ea typeface="Georgia"/>
                          <a:cs typeface="Georgia"/>
                        </a:rPr>
                        <a:t>55.8%</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extLst>
                  <a:ext uri="{0D108BD9-81ED-4DB2-BD59-A6C34878D82A}">
                    <a16:rowId xmlns:a16="http://schemas.microsoft.com/office/drawing/2014/main" val="10001"/>
                  </a:ext>
                </a:extLst>
              </a:tr>
              <a:tr h="495300">
                <a:tc>
                  <a:txBody>
                    <a:bodyPr/>
                    <a:lstStyle/>
                    <a:p>
                      <a:r>
                        <a:rPr sz="1500" b="0">
                          <a:solidFill>
                            <a:srgbClr val="141413"/>
                          </a:solidFill>
                          <a:latin typeface="Georgia"/>
                          <a:ea typeface="Georgia"/>
                          <a:cs typeface="Georgia"/>
                        </a:rPr>
                        <a:t>B: diarize first</a:t>
                      </a:r>
                    </a:p>
                  </a:txBody>
                  <a:tcPr>
                    <a:lnL w="9525">
                      <a:solidFill>
                        <a:srgbClr val="E8E6DC"/>
                      </a:solidFill>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tc>
                  <a:txBody>
                    <a:bodyPr/>
                    <a:lstStyle/>
                    <a:p>
                      <a:r>
                        <a:rPr sz="1500" b="0">
                          <a:solidFill>
                            <a:srgbClr val="141413"/>
                          </a:solidFill>
                          <a:latin typeface="Georgia"/>
                          <a:ea typeface="Georgia"/>
                          <a:cs typeface="Georgia"/>
                        </a:rPr>
                        <a:t>49.5%</a:t>
                      </a:r>
                    </a:p>
                  </a:txBody>
                  <a:tcPr>
                    <a:lnL w="9525" cap="flat" cmpd="sng" algn="ctr">
                      <a:solidFill>
                        <a:srgbClr val="E8E6DC"/>
                      </a:solidFill>
                      <a:prstDash val="solid"/>
                      <a:round/>
                      <a:headEnd type="none" w="med" len="med"/>
                      <a:tailEnd type="none" w="med" len="med"/>
                    </a:lnL>
                    <a:lnR w="9525">
                      <a:solidFill>
                        <a:srgbClr val="E8E6DC"/>
                      </a:solidFill>
                    </a:lnR>
                    <a:lnT w="9525" cap="flat" cmpd="sng" algn="ctr">
                      <a:solidFill>
                        <a:srgbClr val="E8E6DC"/>
                      </a:solidFill>
                      <a:prstDash val="solid"/>
                      <a:round/>
                      <a:headEnd type="none" w="med" len="med"/>
                      <a:tailEnd type="none" w="med" len="med"/>
                    </a:lnT>
                    <a:lnB w="9525">
                      <a:solidFill>
                        <a:srgbClr val="E8E6DC"/>
                      </a:solidFill>
                    </a:lnB>
                    <a:solidFill>
                      <a:srgbClr val="FAF9F5"/>
                    </a:solidFill>
                  </a:tcPr>
                </a:tc>
                <a:extLst>
                  <a:ext uri="{0D108BD9-81ED-4DB2-BD59-A6C34878D82A}">
                    <a16:rowId xmlns:a16="http://schemas.microsoft.com/office/drawing/2014/main" val="10002"/>
                  </a:ext>
                </a:extLst>
              </a:tr>
            </a:tbl>
          </a:graphicData>
        </a:graphic>
      </p:graphicFrame>
      <p:sp>
        <p:nvSpPr>
          <p:cNvPr id="17" name="Rectangle 16">
            <a:extLst>
              <a:ext uri="{FF2B5EF4-FFF2-40B4-BE49-F238E27FC236}">
                <a16:creationId xmlns:a16="http://schemas.microsoft.com/office/drawing/2014/main" id="{875E25C3-8657-4142-B464-0F503EE99F8F}"/>
              </a:ext>
            </a:extLst>
          </p:cNvPr>
          <p:cNvSpPr>
            <a:spLocks noGrp="1"/>
          </p:cNvSpPr>
          <p:nvPr/>
        </p:nvSpPr>
        <p:spPr>
          <a:xfrm>
            <a:off x="7753350" y="5572125"/>
            <a:ext cx="3829050" cy="857250"/>
          </a:xfrm>
          <a:prstGeom prst="rect">
            <a:avLst/>
          </a:prstGeom>
          <a:noFill/>
          <a:ln w="0">
            <a:noFill/>
          </a:ln>
        </p:spPr>
        <p:txBody>
          <a:bodyPr lIns="0" tIns="0" rIns="0" bIns="0" anchor="t"/>
          <a:lstStyle>
            <a:defPPr>
              <a:defRPr sz="1500" b="0">
                <a:solidFill>
                  <a:srgbClr val="141413"/>
                </a:solidFill>
                <a:latin typeface="Georgia"/>
                <a:ea typeface="Georgia"/>
                <a:cs typeface="Georgia"/>
              </a:defRPr>
            </a:defPPr>
          </a:lstStyle>
          <a:p>
            <a:pPr>
              <a:defRPr sz="1500" b="0">
                <a:solidFill>
                  <a:srgbClr val="141413"/>
                </a:solidFill>
                <a:latin typeface="Georgia"/>
                <a:ea typeface="Georgia"/>
                <a:cs typeface="Georgia"/>
              </a:defRPr>
            </a:pPr>
            <a:r>
              <a:rPr sz="1500" b="0">
                <a:solidFill>
                  <a:srgbClr val="141413"/>
                </a:solidFill>
                <a:latin typeface="Georgia"/>
                <a:ea typeface="Georgia"/>
                <a:cs typeface="Georgia"/>
              </a:rPr>
              <a:t>B wins in 50 of 72 conversations.</a:t>
            </a:r>
          </a:p>
          <a:p>
            <a:pPr>
              <a:defRPr sz="1500" b="0">
                <a:solidFill>
                  <a:srgbClr val="141413"/>
                </a:solidFill>
                <a:latin typeface="Georgia"/>
                <a:ea typeface="Georgia"/>
                <a:cs typeface="Georgia"/>
              </a:defRPr>
            </a:pPr>
            <a:r>
              <a:rPr sz="1500" b="0">
                <a:solidFill>
                  <a:srgbClr val="141413"/>
                </a:solidFill>
                <a:latin typeface="Georgia"/>
                <a:ea typeface="Georgia"/>
                <a:cs typeface="Georgia"/>
              </a:rPr>
              <a:t>cpWER measures words and speaker attribution. Lower is better.</a:t>
            </a:r>
          </a:p>
        </p:txBody>
      </p:sp>
    </p:spTree>
    <p:extLst>
      <p:ext uri="{BB962C8B-B14F-4D97-AF65-F5344CB8AC3E}">
        <p14:creationId xmlns:p14="http://schemas.microsoft.com/office/powerpoint/2010/main" val="1006084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9B9482A-ABEC-40CD-8B0E-BD2487AFEB54}"/>
              </a:ext>
            </a:extLst>
          </p:cNvPr>
          <p:cNvSpPr>
            <a:spLocks noGrp="1"/>
          </p:cNvSpPr>
          <p:nvPr/>
        </p:nvSpPr>
        <p:spPr>
          <a:xfrm>
            <a:off x="609600" y="314325"/>
            <a:ext cx="8572500" cy="209550"/>
          </a:xfrm>
          <a:prstGeom prst="rect">
            <a:avLst/>
          </a:prstGeom>
          <a:noFill/>
          <a:ln w="0">
            <a:noFill/>
          </a:ln>
        </p:spPr>
        <p:txBody>
          <a:bodyPr lIns="0" tIns="0" rIns="0" bIns="0" anchor="t"/>
          <a:lstStyle>
            <a:defPPr>
              <a:defRPr sz="1125" b="0">
                <a:solidFill>
                  <a:srgbClr val="5E5D59"/>
                </a:solidFill>
                <a:latin typeface="Poppins"/>
                <a:ea typeface="Poppins"/>
                <a:cs typeface="Poppins"/>
              </a:defRPr>
            </a:defPPr>
          </a:lstStyle>
          <a:p>
            <a:pPr>
              <a:defRPr sz="1125" b="0">
                <a:solidFill>
                  <a:srgbClr val="5E5D59"/>
                </a:solidFill>
                <a:latin typeface="Poppins"/>
                <a:ea typeface="Poppins"/>
                <a:cs typeface="Poppins"/>
              </a:defRPr>
            </a:pPr>
            <a:r>
              <a:rPr sz="1125" b="0">
                <a:solidFill>
                  <a:srgbClr val="5E5D59"/>
                </a:solidFill>
                <a:latin typeface="Poppins"/>
                <a:ea typeface="Poppins"/>
                <a:cs typeface="Poppins"/>
              </a:rPr>
              <a:t>TEAM vismAI / CS F407</a:t>
            </a:r>
          </a:p>
        </p:txBody>
      </p:sp>
      <p:sp>
        <p:nvSpPr>
          <p:cNvPr id="2" name="Rectangle 1">
            <a:extLst>
              <a:ext uri="{FF2B5EF4-FFF2-40B4-BE49-F238E27FC236}">
                <a16:creationId xmlns:a16="http://schemas.microsoft.com/office/drawing/2014/main" id="{DBFAEBF9-E1FE-423B-8A31-D1C024AD6563}"/>
              </a:ext>
            </a:extLst>
          </p:cNvPr>
          <p:cNvSpPr>
            <a:spLocks noGrp="1"/>
          </p:cNvSpPr>
          <p:nvPr/>
        </p:nvSpPr>
        <p:spPr>
          <a:xfrm>
            <a:off x="609600" y="695325"/>
            <a:ext cx="10972800" cy="619125"/>
          </a:xfrm>
          <a:prstGeom prst="rect">
            <a:avLst/>
          </a:prstGeom>
          <a:noFill/>
          <a:ln w="0">
            <a:noFill/>
          </a:ln>
        </p:spPr>
        <p:txBody>
          <a:bodyPr lIns="0" tIns="0" rIns="0" bIns="0" anchor="t"/>
          <a:lstStyle>
            <a:defPPr>
              <a:defRPr sz="3000" b="1">
                <a:solidFill>
                  <a:srgbClr val="141413"/>
                </a:solidFill>
                <a:latin typeface="Poppins"/>
                <a:ea typeface="Poppins"/>
                <a:cs typeface="Poppins"/>
              </a:defRPr>
            </a:defPPr>
          </a:lstStyle>
          <a:p>
            <a:pPr>
              <a:defRPr sz="3000" b="1">
                <a:solidFill>
                  <a:srgbClr val="141413"/>
                </a:solidFill>
                <a:latin typeface="Poppins"/>
                <a:ea typeface="Poppins"/>
                <a:cs typeface="Poppins"/>
              </a:defRPr>
            </a:pPr>
            <a:r>
              <a:rPr sz="3000" b="1">
                <a:solidFill>
                  <a:srgbClr val="141413"/>
                </a:solidFill>
                <a:latin typeface="Poppins"/>
                <a:ea typeface="Poppins"/>
                <a:cs typeface="Poppins"/>
              </a:rPr>
              <a:t>The report output, and what remains</a:t>
            </a:r>
          </a:p>
        </p:txBody>
      </p:sp>
      <p:sp>
        <p:nvSpPr>
          <p:cNvPr id="3" name="Rectangle 2">
            <a:extLst>
              <a:ext uri="{FF2B5EF4-FFF2-40B4-BE49-F238E27FC236}">
                <a16:creationId xmlns:a16="http://schemas.microsoft.com/office/drawing/2014/main" id="{89923AA0-FEB5-444B-AC63-65843DBF9AB2}"/>
              </a:ext>
            </a:extLst>
          </p:cNvPr>
          <p:cNvSpPr>
            <a:spLocks noGrp="1"/>
          </p:cNvSpPr>
          <p:nvPr/>
        </p:nvSpPr>
        <p:spPr>
          <a:xfrm>
            <a:off x="609600" y="1362075"/>
            <a:ext cx="10972800" cy="552450"/>
          </a:xfrm>
          <a:prstGeom prst="rect">
            <a:avLst/>
          </a:prstGeom>
          <a:noFill/>
          <a:ln w="0">
            <a:noFill/>
          </a:ln>
        </p:spPr>
        <p:txBody>
          <a:bodyPr lIns="0" tIns="0" rIns="0" bIns="0" anchor="t"/>
          <a:lstStyle>
            <a:defPPr>
              <a:defRPr sz="1575" b="0">
                <a:solidFill>
                  <a:srgbClr val="5E5D59"/>
                </a:solidFill>
                <a:latin typeface="Georgia"/>
                <a:ea typeface="Georgia"/>
                <a:cs typeface="Georgia"/>
              </a:defRPr>
            </a:defPPr>
          </a:lstStyle>
          <a:p>
            <a:pPr>
              <a:defRPr sz="1575" b="0">
                <a:solidFill>
                  <a:srgbClr val="5E5D59"/>
                </a:solidFill>
                <a:latin typeface="Georgia"/>
                <a:ea typeface="Georgia"/>
                <a:cs typeface="Georgia"/>
              </a:defRPr>
            </a:pPr>
            <a:r>
              <a:rPr sz="1575" b="0">
                <a:solidFill>
                  <a:srgbClr val="5E5D59"/>
                </a:solidFill>
                <a:latin typeface="Georgia"/>
                <a:ea typeface="Georgia"/>
                <a:cs typeface="Georgia"/>
              </a:rPr>
              <a:t>M4 / Shrivaths     Airavata 7B, quantised to 4 bits and run locally</a:t>
            </a:r>
          </a:p>
        </p:txBody>
      </p:sp>
      <p:sp>
        <p:nvSpPr>
          <p:cNvPr id="4" name="Rectangle 3">
            <a:extLst>
              <a:ext uri="{FF2B5EF4-FFF2-40B4-BE49-F238E27FC236}">
                <a16:creationId xmlns:a16="http://schemas.microsoft.com/office/drawing/2014/main" id="{DD2FF9F5-97DF-43AA-BB5C-954BFE413A77}"/>
              </a:ext>
            </a:extLst>
          </p:cNvPr>
          <p:cNvSpPr>
            <a:spLocks noGrp="1"/>
          </p:cNvSpPr>
          <p:nvPr/>
        </p:nvSpPr>
        <p:spPr>
          <a:xfrm>
            <a:off x="609600" y="6486525"/>
            <a:ext cx="10972800" cy="209550"/>
          </a:xfrm>
          <a:prstGeom prst="rect">
            <a:avLst/>
          </a:prstGeom>
          <a:noFill/>
          <a:ln w="0">
            <a:noFill/>
          </a:ln>
        </p:spPr>
        <p:txBody>
          <a:bodyPr lIns="0" tIns="0" rIns="0" bIns="0" anchor="t"/>
          <a:lstStyle>
            <a:defPPr>
              <a:defRPr sz="1050" b="0">
                <a:solidFill>
                  <a:srgbClr val="5E5D59"/>
                </a:solidFill>
                <a:latin typeface="Poppins"/>
                <a:ea typeface="Poppins"/>
                <a:cs typeface="Poppins"/>
              </a:defRPr>
            </a:defPPr>
          </a:lstStyle>
          <a:p>
            <a:pPr>
              <a:defRPr sz="1050" b="0">
                <a:solidFill>
                  <a:srgbClr val="5E5D59"/>
                </a:solidFill>
                <a:latin typeface="Poppins"/>
                <a:ea typeface="Poppins"/>
                <a:cs typeface="Poppins"/>
              </a:defRPr>
            </a:pPr>
            <a:r>
              <a:rPr sz="1050" b="0">
                <a:solidFill>
                  <a:srgbClr val="5E5D59"/>
                </a:solidFill>
                <a:latin typeface="Poppins"/>
                <a:ea typeface="Poppins"/>
                <a:cs typeface="Poppins"/>
              </a:rPr>
              <a:t>whospoke     3 / 3</a:t>
            </a:r>
          </a:p>
        </p:txBody>
      </p:sp>
      <p:sp>
        <p:nvSpPr>
          <p:cNvPr id="5" name="Rectangle 4">
            <a:extLst>
              <a:ext uri="{FF2B5EF4-FFF2-40B4-BE49-F238E27FC236}">
                <a16:creationId xmlns:a16="http://schemas.microsoft.com/office/drawing/2014/main" id="{77680277-A0A2-4D6E-AF42-9FECE4656B19}"/>
              </a:ext>
            </a:extLst>
          </p:cNvPr>
          <p:cNvSpPr>
            <a:spLocks noGrp="1"/>
          </p:cNvSpPr>
          <p:nvPr/>
        </p:nvSpPr>
        <p:spPr>
          <a:xfrm>
            <a:off x="609600" y="2057400"/>
            <a:ext cx="5334000" cy="276225"/>
          </a:xfrm>
          <a:prstGeom prst="rect">
            <a:avLst/>
          </a:prstGeom>
          <a:noFill/>
          <a:ln w="0">
            <a:noFill/>
          </a:ln>
        </p:spPr>
        <p:txBody>
          <a:bodyPr lIns="0" tIns="0" rIns="0" bIns="0" anchor="t"/>
          <a:lstStyle>
            <a:defPPr>
              <a:defRPr sz="1275" b="0">
                <a:solidFill>
                  <a:srgbClr val="5E5D59"/>
                </a:solidFill>
                <a:latin typeface="Poppins"/>
                <a:ea typeface="Poppins"/>
                <a:cs typeface="Poppins"/>
              </a:defRPr>
            </a:defPPr>
          </a:lstStyle>
          <a:p>
            <a:pPr>
              <a:defRPr sz="1275" b="0">
                <a:solidFill>
                  <a:srgbClr val="5E5D59"/>
                </a:solidFill>
                <a:latin typeface="Poppins"/>
                <a:ea typeface="Poppins"/>
                <a:cs typeface="Poppins"/>
              </a:defRPr>
            </a:pPr>
            <a:r>
              <a:rPr sz="1275" b="0">
                <a:solidFill>
                  <a:srgbClr val="5E5D59"/>
                </a:solidFill>
                <a:latin typeface="Poppins"/>
                <a:ea typeface="Poppins"/>
                <a:cs typeface="Poppins"/>
              </a:rPr>
              <a:t>ACTUAL REPORT EXCERPTS</a:t>
            </a:r>
          </a:p>
        </p:txBody>
      </p:sp>
      <p:sp>
        <p:nvSpPr>
          <p:cNvPr id="6" name="Rectangle 5">
            <a:extLst>
              <a:ext uri="{FF2B5EF4-FFF2-40B4-BE49-F238E27FC236}">
                <a16:creationId xmlns:a16="http://schemas.microsoft.com/office/drawing/2014/main" id="{10DF7FE0-31AF-4D26-AD43-AD75BFAB9909}"/>
              </a:ext>
            </a:extLst>
          </p:cNvPr>
          <p:cNvSpPr>
            <a:spLocks noGrp="1"/>
          </p:cNvSpPr>
          <p:nvPr/>
        </p:nvSpPr>
        <p:spPr>
          <a:xfrm>
            <a:off x="609600" y="2524125"/>
            <a:ext cx="5334000" cy="266700"/>
          </a:xfrm>
          <a:prstGeom prst="rect">
            <a:avLst/>
          </a:prstGeom>
          <a:noFill/>
          <a:ln w="0">
            <a:noFill/>
          </a:ln>
        </p:spPr>
        <p:txBody>
          <a:bodyPr lIns="0" tIns="0" rIns="0" bIns="0" anchor="t"/>
          <a:lstStyle>
            <a:defPPr>
              <a:defRPr sz="1500" b="0">
                <a:solidFill>
                  <a:srgbClr val="5E5D59"/>
                </a:solidFill>
                <a:latin typeface="Georgia"/>
                <a:ea typeface="Georgia"/>
                <a:cs typeface="Georgia"/>
              </a:defRPr>
            </a:defPPr>
          </a:lstStyle>
          <a:p>
            <a:pPr>
              <a:defRPr sz="1500" b="0">
                <a:solidFill>
                  <a:srgbClr val="5E5D59"/>
                </a:solidFill>
                <a:latin typeface="Georgia"/>
                <a:ea typeface="Georgia"/>
                <a:cs typeface="Georgia"/>
              </a:defRPr>
            </a:pPr>
            <a:r>
              <a:rPr sz="1500" b="0">
                <a:solidFill>
                  <a:srgbClr val="5E5D59"/>
                </a:solidFill>
                <a:latin typeface="Georgia"/>
                <a:ea typeface="Georgia"/>
                <a:cs typeface="Georgia"/>
              </a:rPr>
              <a:t>Key point</a:t>
            </a:r>
          </a:p>
        </p:txBody>
      </p:sp>
      <p:sp>
        <p:nvSpPr>
          <p:cNvPr id="7" name="Rectangle 6">
            <a:extLst>
              <a:ext uri="{FF2B5EF4-FFF2-40B4-BE49-F238E27FC236}">
                <a16:creationId xmlns:a16="http://schemas.microsoft.com/office/drawing/2014/main" id="{308C7E66-1C40-4515-A048-BDB29FAF249B}"/>
              </a:ext>
            </a:extLst>
          </p:cNvPr>
          <p:cNvSpPr>
            <a:spLocks noGrp="1"/>
          </p:cNvSpPr>
          <p:nvPr/>
        </p:nvSpPr>
        <p:spPr>
          <a:xfrm>
            <a:off x="609600" y="2886075"/>
            <a:ext cx="5334000" cy="809625"/>
          </a:xfrm>
          <a:prstGeom prst="rect">
            <a:avLst/>
          </a:prstGeom>
          <a:noFill/>
          <a:ln w="0">
            <a:noFill/>
          </a:ln>
        </p:spPr>
        <p:txBody>
          <a:bodyPr lIns="0" tIns="0" rIns="0" bIns="0" anchor="t"/>
          <a:lstStyle>
            <a:defPPr>
              <a:defRPr sz="2400" b="0">
                <a:solidFill>
                  <a:srgbClr val="141413"/>
                </a:solidFill>
                <a:latin typeface="Georgia"/>
                <a:ea typeface="Georgia"/>
                <a:cs typeface="Georgia"/>
              </a:defRPr>
            </a:defPPr>
          </a:lstStyle>
          <a:p>
            <a:pPr>
              <a:defRPr sz="2400" b="0">
                <a:solidFill>
                  <a:srgbClr val="141413"/>
                </a:solidFill>
                <a:latin typeface="Georgia"/>
                <a:ea typeface="Georgia"/>
                <a:cs typeface="Georgia"/>
              </a:defRPr>
            </a:pPr>
            <a:r>
              <a:rPr sz="2400" b="0">
                <a:solidFill>
                  <a:srgbClr val="141413"/>
                </a:solidFill>
                <a:latin typeface="Georgia"/>
                <a:ea typeface="Georgia"/>
                <a:cs typeface="Georgia"/>
              </a:rPr>
              <a:t>“Speaker A lost his ID card”</a:t>
            </a:r>
          </a:p>
        </p:txBody>
      </p:sp>
      <p:sp>
        <p:nvSpPr>
          <p:cNvPr id="8" name="Rectangle 7">
            <a:extLst>
              <a:ext uri="{FF2B5EF4-FFF2-40B4-BE49-F238E27FC236}">
                <a16:creationId xmlns:a16="http://schemas.microsoft.com/office/drawing/2014/main" id="{632EDA3F-F278-4A08-9A85-BE0D90B1BE26}"/>
              </a:ext>
            </a:extLst>
          </p:cNvPr>
          <p:cNvSpPr>
            <a:spLocks noGrp="1"/>
          </p:cNvSpPr>
          <p:nvPr/>
        </p:nvSpPr>
        <p:spPr>
          <a:xfrm>
            <a:off x="609600" y="3790950"/>
            <a:ext cx="5334000" cy="276225"/>
          </a:xfrm>
          <a:prstGeom prst="rect">
            <a:avLst/>
          </a:prstGeom>
          <a:noFill/>
          <a:ln w="0">
            <a:noFill/>
          </a:ln>
        </p:spPr>
        <p:txBody>
          <a:bodyPr lIns="0" tIns="0" rIns="0" bIns="0" anchor="t"/>
          <a:lstStyle>
            <a:defPPr>
              <a:defRPr sz="1350" b="0">
                <a:solidFill>
                  <a:srgbClr val="5E5D59"/>
                </a:solidFill>
                <a:latin typeface="Poppins"/>
                <a:ea typeface="Poppins"/>
                <a:cs typeface="Poppins"/>
              </a:defRPr>
            </a:defPPr>
          </a:lstStyle>
          <a:p>
            <a:pPr>
              <a:defRPr sz="1350" b="0">
                <a:solidFill>
                  <a:srgbClr val="5E5D59"/>
                </a:solidFill>
                <a:latin typeface="Poppins"/>
                <a:ea typeface="Poppins"/>
                <a:cs typeface="Poppins"/>
              </a:defRPr>
            </a:pPr>
            <a:r>
              <a:rPr sz="1350" b="0">
                <a:solidFill>
                  <a:srgbClr val="5E5D59"/>
                </a:solidFill>
                <a:latin typeface="Poppins"/>
                <a:ea typeface="Poppins"/>
                <a:cs typeface="Poppins"/>
              </a:rPr>
              <a:t>Line 13 / Speaker_A / 00:51–00:54</a:t>
            </a:r>
          </a:p>
        </p:txBody>
      </p:sp>
      <p:sp>
        <p:nvSpPr>
          <p:cNvPr id="9" name="Rectangle 8">
            <a:extLst>
              <a:ext uri="{FF2B5EF4-FFF2-40B4-BE49-F238E27FC236}">
                <a16:creationId xmlns:a16="http://schemas.microsoft.com/office/drawing/2014/main" id="{9E6C60B0-FE10-4CC5-B2B1-0740ABE43EBF}"/>
              </a:ext>
            </a:extLst>
          </p:cNvPr>
          <p:cNvSpPr>
            <a:spLocks noGrp="1"/>
          </p:cNvSpPr>
          <p:nvPr/>
        </p:nvSpPr>
        <p:spPr>
          <a:xfrm>
            <a:off x="609600" y="4181475"/>
            <a:ext cx="5334000" cy="1000125"/>
          </a:xfrm>
          <a:prstGeom prst="rect">
            <a:avLst/>
          </a:prstGeom>
          <a:noFill/>
          <a:ln w="0">
            <a:noFill/>
          </a:ln>
        </p:spPr>
        <p:txBody>
          <a:bodyPr lIns="0" tIns="0" rIns="0" bIns="0" anchor="t"/>
          <a:lstStyle>
            <a:defPPr>
              <a:defRPr sz="2325" b="0">
                <a:solidFill>
                  <a:srgbClr val="D97757"/>
                </a:solidFill>
                <a:latin typeface="Georgia"/>
                <a:ea typeface="Georgia"/>
                <a:cs typeface="Georgia"/>
              </a:defRPr>
            </a:defPPr>
          </a:lstStyle>
          <a:p>
            <a:pPr>
              <a:defRPr sz="2325" b="0">
                <a:solidFill>
                  <a:srgbClr val="D97757"/>
                </a:solidFill>
                <a:latin typeface="Georgia"/>
                <a:ea typeface="Georgia"/>
                <a:cs typeface="Georgia"/>
              </a:defRPr>
            </a:pPr>
            <a:r>
              <a:rPr sz="2325" b="0">
                <a:solidFill>
                  <a:srgbClr val="D97757"/>
                </a:solidFill>
                <a:latin typeface="Georgia"/>
                <a:ea typeface="Georgia"/>
                <a:cs typeface="Georgia"/>
              </a:rPr>
              <a:t>“The office is open until what time?”</a:t>
            </a:r>
          </a:p>
        </p:txBody>
      </p:sp>
      <p:sp>
        <p:nvSpPr>
          <p:cNvPr id="10" name="Rectangle 9">
            <a:extLst>
              <a:ext uri="{FF2B5EF4-FFF2-40B4-BE49-F238E27FC236}">
                <a16:creationId xmlns:a16="http://schemas.microsoft.com/office/drawing/2014/main" id="{61311EE0-8602-4EDF-BCDC-7F46E755DD33}"/>
              </a:ext>
            </a:extLst>
          </p:cNvPr>
          <p:cNvSpPr>
            <a:spLocks noGrp="1"/>
          </p:cNvSpPr>
          <p:nvPr/>
        </p:nvSpPr>
        <p:spPr>
          <a:xfrm>
            <a:off x="609600" y="5486400"/>
            <a:ext cx="5334000" cy="762000"/>
          </a:xfrm>
          <a:prstGeom prst="rect">
            <a:avLst/>
          </a:prstGeom>
          <a:noFill/>
          <a:ln w="0">
            <a:noFill/>
          </a:ln>
        </p:spPr>
        <p:txBody>
          <a:bodyPr lIns="0" tIns="0" rIns="0" bIns="0" anchor="t"/>
          <a:lstStyle>
            <a:defPPr>
              <a:defRPr sz="1650" b="0">
                <a:solidFill>
                  <a:srgbClr val="141413"/>
                </a:solidFill>
                <a:latin typeface="Georgia"/>
                <a:ea typeface="Georgia"/>
                <a:cs typeface="Georgia"/>
              </a:defRPr>
            </a:defPPr>
          </a:lstStyle>
          <a:p>
            <a:pPr>
              <a:defRPr sz="1650" b="0">
                <a:solidFill>
                  <a:srgbClr val="141413"/>
                </a:solidFill>
                <a:latin typeface="Georgia"/>
                <a:ea typeface="Georgia"/>
                <a:cs typeface="Georgia"/>
              </a:defRPr>
            </a:pPr>
            <a:r>
              <a:rPr sz="1650" b="0">
                <a:solidFill>
                  <a:srgbClr val="141413"/>
                </a:solidFill>
                <a:latin typeface="Georgia"/>
                <a:ea typeface="Georgia"/>
                <a:cs typeface="Georgia"/>
              </a:rPr>
              <a:t>Produces a summary, keywords and translated dialogue. Speakers and times pass through unchanged.</a:t>
            </a:r>
          </a:p>
        </p:txBody>
      </p:sp>
      <p:sp>
        <p:nvSpPr>
          <p:cNvPr id="11" name="Rectangle 10">
            <a:extLst>
              <a:ext uri="{FF2B5EF4-FFF2-40B4-BE49-F238E27FC236}">
                <a16:creationId xmlns:a16="http://schemas.microsoft.com/office/drawing/2014/main" id="{38877E40-F6D8-4034-90EE-CFFF0C97C9DD}"/>
              </a:ext>
            </a:extLst>
          </p:cNvPr>
          <p:cNvSpPr>
            <a:spLocks noGrp="1"/>
          </p:cNvSpPr>
          <p:nvPr/>
        </p:nvSpPr>
        <p:spPr>
          <a:xfrm>
            <a:off x="6648450" y="2057400"/>
            <a:ext cx="4933950" cy="361950"/>
          </a:xfrm>
          <a:prstGeom prst="rect">
            <a:avLst/>
          </a:prstGeom>
          <a:noFill/>
          <a:ln w="0">
            <a:noFill/>
          </a:ln>
        </p:spPr>
        <p:txBody>
          <a:bodyPr lIns="0" tIns="0" rIns="0" bIns="0" anchor="t"/>
          <a:lstStyle>
            <a:defPPr>
              <a:defRPr sz="1950" b="1">
                <a:solidFill>
                  <a:srgbClr val="141413"/>
                </a:solidFill>
                <a:latin typeface="Poppins"/>
                <a:ea typeface="Poppins"/>
                <a:cs typeface="Poppins"/>
              </a:defRPr>
            </a:defPPr>
          </a:lstStyle>
          <a:p>
            <a:pPr>
              <a:defRPr sz="1950" b="1">
                <a:solidFill>
                  <a:srgbClr val="141413"/>
                </a:solidFill>
                <a:latin typeface="Poppins"/>
                <a:ea typeface="Poppins"/>
                <a:cs typeface="Poppins"/>
              </a:defRPr>
            </a:pPr>
            <a:r>
              <a:rPr sz="1950" b="1">
                <a:solidFill>
                  <a:srgbClr val="141413"/>
                </a:solidFill>
                <a:latin typeface="Poppins"/>
                <a:ea typeface="Poppins"/>
                <a:cs typeface="Poppins"/>
              </a:rPr>
              <a:t>Measured limits</a:t>
            </a:r>
          </a:p>
        </p:txBody>
      </p:sp>
      <p:sp>
        <p:nvSpPr>
          <p:cNvPr id="12" name="Rectangle 11">
            <a:extLst>
              <a:ext uri="{FF2B5EF4-FFF2-40B4-BE49-F238E27FC236}">
                <a16:creationId xmlns:a16="http://schemas.microsoft.com/office/drawing/2014/main" id="{1E2CA329-5806-4763-8089-1BAED5335201}"/>
              </a:ext>
            </a:extLst>
          </p:cNvPr>
          <p:cNvSpPr>
            <a:spLocks noGrp="1"/>
          </p:cNvSpPr>
          <p:nvPr/>
        </p:nvSpPr>
        <p:spPr>
          <a:xfrm>
            <a:off x="6648450" y="2562225"/>
            <a:ext cx="4933950" cy="990600"/>
          </a:xfrm>
          <a:prstGeom prst="rect">
            <a:avLst/>
          </a:prstGeom>
          <a:noFill/>
          <a:ln w="0">
            <a:noFill/>
          </a:ln>
        </p:spPr>
        <p:txBody>
          <a:bodyPr lIns="0" tIns="0" rIns="0" bIns="0" anchor="t"/>
          <a:lstStyle>
            <a:defPPr>
              <a:defRPr sz="1650" b="0">
                <a:solidFill>
                  <a:srgbClr val="141413"/>
                </a:solidFill>
                <a:latin typeface="Georgia"/>
                <a:ea typeface="Georgia"/>
                <a:cs typeface="Georgia"/>
              </a:defRPr>
            </a:defPPr>
          </a:lstStyle>
          <a:p>
            <a:pPr>
              <a:defRPr sz="1650" b="0">
                <a:solidFill>
                  <a:srgbClr val="141413"/>
                </a:solidFill>
                <a:latin typeface="Georgia"/>
                <a:ea typeface="Georgia"/>
                <a:cs typeface="Georgia"/>
              </a:defRPr>
            </a:pPr>
            <a:r>
              <a:rPr sz="1650" b="0">
                <a:solidFill>
                  <a:srgbClr val="141413"/>
                </a:solidFill>
                <a:latin typeface="Georgia"/>
                <a:ea typeface="Georgia"/>
                <a:cs typeface="Georgia"/>
              </a:rPr>
              <a:t>Transcript repair adds 0.9 cpWER points</a:t>
            </a:r>
          </a:p>
          <a:p>
            <a:pPr>
              <a:defRPr sz="1650" b="0">
                <a:solidFill>
                  <a:srgbClr val="141413"/>
                </a:solidFill>
                <a:latin typeface="Georgia"/>
                <a:ea typeface="Georgia"/>
                <a:cs typeface="Georgia"/>
              </a:defRPr>
            </a:pPr>
            <a:r>
              <a:rPr sz="1650" b="0">
                <a:solidFill>
                  <a:srgbClr val="141413"/>
                </a:solidFill>
                <a:latin typeface="Georgia"/>
                <a:ea typeface="Georgia"/>
                <a:cs typeface="Georgia"/>
              </a:rPr>
              <a:t>(paired mean across 63 conversations).</a:t>
            </a:r>
          </a:p>
          <a:p>
            <a:pPr>
              <a:defRPr sz="1650" b="0">
                <a:solidFill>
                  <a:srgbClr val="141413"/>
                </a:solidFill>
                <a:latin typeface="Georgia"/>
                <a:ea typeface="Georgia"/>
                <a:cs typeface="Georgia"/>
              </a:defRPr>
            </a:pPr>
            <a:r>
              <a:rPr sz="1650" b="0">
                <a:solidFill>
                  <a:srgbClr val="141413"/>
                </a:solidFill>
                <a:latin typeface="Georgia"/>
                <a:ea typeface="Georgia"/>
                <a:cs typeface="Georgia"/>
              </a:rPr>
              <a:t>No accepted action items in 252 reports.</a:t>
            </a:r>
          </a:p>
        </p:txBody>
      </p:sp>
      <p:sp>
        <p:nvSpPr>
          <p:cNvPr id="13" name="Rectangle 12">
            <a:extLst>
              <a:ext uri="{FF2B5EF4-FFF2-40B4-BE49-F238E27FC236}">
                <a16:creationId xmlns:a16="http://schemas.microsoft.com/office/drawing/2014/main" id="{9580453F-1B10-42E3-9BFC-6CF0ABBE642B}"/>
              </a:ext>
            </a:extLst>
          </p:cNvPr>
          <p:cNvSpPr>
            <a:spLocks noGrp="1"/>
          </p:cNvSpPr>
          <p:nvPr/>
        </p:nvSpPr>
        <p:spPr>
          <a:xfrm>
            <a:off x="6648450" y="3838575"/>
            <a:ext cx="4933950" cy="619125"/>
          </a:xfrm>
          <a:prstGeom prst="rect">
            <a:avLst/>
          </a:prstGeom>
          <a:noFill/>
          <a:ln w="0">
            <a:noFill/>
          </a:ln>
        </p:spPr>
        <p:txBody>
          <a:bodyPr lIns="0" tIns="0" rIns="0" bIns="0" anchor="t"/>
          <a:lstStyle>
            <a:defPPr>
              <a:defRPr sz="1875" b="1">
                <a:solidFill>
                  <a:srgbClr val="141413"/>
                </a:solidFill>
                <a:latin typeface="Poppins"/>
                <a:ea typeface="Poppins"/>
                <a:cs typeface="Poppins"/>
              </a:defRPr>
            </a:defPPr>
          </a:lstStyle>
          <a:p>
            <a:pPr>
              <a:defRPr sz="1875" b="1">
                <a:solidFill>
                  <a:srgbClr val="141413"/>
                </a:solidFill>
                <a:latin typeface="Poppins"/>
                <a:ea typeface="Poppins"/>
                <a:cs typeface="Poppins"/>
              </a:defRPr>
            </a:pPr>
            <a:r>
              <a:rPr sz="1875" b="1">
                <a:solidFill>
                  <a:srgbClr val="141413"/>
                </a:solidFill>
                <a:latin typeface="Poppins"/>
                <a:ea typeface="Poppins"/>
                <a:cs typeface="Poppins"/>
              </a:rPr>
              <a:t>Next steps</a:t>
            </a:r>
          </a:p>
        </p:txBody>
      </p:sp>
      <p:sp>
        <p:nvSpPr>
          <p:cNvPr id="14" name="Rectangle 13">
            <a:extLst>
              <a:ext uri="{FF2B5EF4-FFF2-40B4-BE49-F238E27FC236}">
                <a16:creationId xmlns:a16="http://schemas.microsoft.com/office/drawing/2014/main" id="{FBB45FF0-C40B-4450-8F53-FA809D7AC7D8}"/>
              </a:ext>
            </a:extLst>
          </p:cNvPr>
          <p:cNvSpPr>
            <a:spLocks noGrp="1"/>
          </p:cNvSpPr>
          <p:nvPr/>
        </p:nvSpPr>
        <p:spPr>
          <a:xfrm>
            <a:off x="6648450" y="4562475"/>
            <a:ext cx="4933950" cy="1133475"/>
          </a:xfrm>
          <a:prstGeom prst="rect">
            <a:avLst/>
          </a:prstGeom>
          <a:noFill/>
          <a:ln w="0">
            <a:noFill/>
          </a:ln>
        </p:spPr>
        <p:txBody>
          <a:bodyPr lIns="0" tIns="0" rIns="0" bIns="0" anchor="t"/>
          <a:lstStyle>
            <a:defPPr>
              <a:defRPr sz="1725" b="0">
                <a:solidFill>
                  <a:srgbClr val="141413"/>
                </a:solidFill>
                <a:latin typeface="Georgia"/>
                <a:ea typeface="Georgia"/>
                <a:cs typeface="Georgia"/>
              </a:defRPr>
            </a:defPPr>
          </a:lstStyle>
          <a:p>
            <a:pPr>
              <a:defRPr sz="1725" b="0">
                <a:solidFill>
                  <a:srgbClr val="141413"/>
                </a:solidFill>
                <a:latin typeface="Georgia"/>
                <a:ea typeface="Georgia"/>
                <a:cs typeface="Georgia"/>
              </a:defRPr>
            </a:pPr>
            <a:r>
              <a:rPr sz="1725" b="0">
                <a:solidFill>
                  <a:srgbClr val="141413"/>
                </a:solidFill>
                <a:latin typeface="Georgia"/>
                <a:ea typeface="Georgia"/>
                <a:cs typeface="Georgia"/>
              </a:rPr>
              <a:t>Improve Hindi speaker embeddings.</a:t>
            </a:r>
          </a:p>
          <a:p>
            <a:pPr>
              <a:defRPr sz="1725" b="0">
                <a:solidFill>
                  <a:srgbClr val="141413"/>
                </a:solidFill>
                <a:latin typeface="Georgia"/>
                <a:ea typeface="Georgia"/>
                <a:cs typeface="Georgia"/>
              </a:defRPr>
            </a:pPr>
            <a:r>
              <a:rPr sz="1725" b="0">
                <a:solidFill>
                  <a:srgbClr val="141413"/>
                </a:solidFill>
                <a:latin typeface="Georgia"/>
                <a:ea typeface="Georgia"/>
                <a:cs typeface="Georgia"/>
              </a:rPr>
              <a:t>Evaluate a larger LLM for action items.</a:t>
            </a:r>
          </a:p>
          <a:p>
            <a:pPr>
              <a:defRPr sz="1725" b="0">
                <a:solidFill>
                  <a:srgbClr val="141413"/>
                </a:solidFill>
                <a:latin typeface="Georgia"/>
                <a:ea typeface="Georgia"/>
                <a:cs typeface="Georgia"/>
              </a:defRPr>
            </a:pPr>
            <a:r>
              <a:rPr sz="1725" b="0">
                <a:solidFill>
                  <a:srgbClr val="141413"/>
                </a:solidFill>
                <a:latin typeface="Georgia"/>
                <a:ea typeface="Georgia"/>
                <a:cs typeface="Georgia"/>
              </a:rPr>
              <a:t>Retrain separation on Indian voices and noise.</a:t>
            </a:r>
          </a:p>
        </p:txBody>
      </p:sp>
      <p:sp>
        <p:nvSpPr>
          <p:cNvPr id="15" name="Rectangle 14">
            <a:extLst>
              <a:ext uri="{FF2B5EF4-FFF2-40B4-BE49-F238E27FC236}">
                <a16:creationId xmlns:a16="http://schemas.microsoft.com/office/drawing/2014/main" id="{F40CA269-39D5-4068-A89C-18F9B56AC90C}"/>
              </a:ext>
            </a:extLst>
          </p:cNvPr>
          <p:cNvSpPr>
            <a:spLocks noGrp="1"/>
          </p:cNvSpPr>
          <p:nvPr/>
        </p:nvSpPr>
        <p:spPr>
          <a:xfrm>
            <a:off x="6648450" y="5953125"/>
            <a:ext cx="4933950" cy="400050"/>
          </a:xfrm>
          <a:prstGeom prst="rect">
            <a:avLst/>
          </a:prstGeom>
          <a:noFill/>
          <a:ln w="0">
            <a:noFill/>
          </a:ln>
        </p:spPr>
        <p:txBody>
          <a:bodyPr lIns="0" tIns="0" rIns="0" bIns="0" anchor="t"/>
          <a:lstStyle>
            <a:defPPr>
              <a:defRPr sz="1350" b="0">
                <a:solidFill>
                  <a:srgbClr val="5E5D59"/>
                </a:solidFill>
                <a:latin typeface="Georgia"/>
                <a:ea typeface="Georgia"/>
                <a:cs typeface="Georgia"/>
              </a:defRPr>
            </a:defPPr>
          </a:lstStyle>
          <a:p>
            <a:pPr>
              <a:defRPr sz="1350" b="0">
                <a:solidFill>
                  <a:srgbClr val="5E5D59"/>
                </a:solidFill>
                <a:latin typeface="Georgia"/>
                <a:ea typeface="Georgia"/>
                <a:cs typeface="Georgia"/>
              </a:defRPr>
            </a:pPr>
            <a:r>
              <a:rPr sz="1350" b="0">
                <a:solidFill>
                  <a:srgbClr val="5E5D59"/>
                </a:solidFill>
                <a:latin typeface="Georgia"/>
                <a:ea typeface="Georgia"/>
                <a:cs typeface="Georgia"/>
              </a:rPr>
              <a:t>These are planned extensions, not measured results.</a:t>
            </a:r>
          </a:p>
        </p:txBody>
      </p:sp>
    </p:spTree>
    <p:extLst>
      <p:ext uri="{BB962C8B-B14F-4D97-AF65-F5344CB8AC3E}">
        <p14:creationId xmlns:p14="http://schemas.microsoft.com/office/powerpoint/2010/main" val="25165605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1138</Words>
  <Application>Microsoft Office PowerPoint</Application>
  <DocSecurity>0</DocSecurity>
  <PresentationFormat>Widescreen</PresentationFormat>
  <Paragraphs>70</Paragraphs>
  <Slides>3</Slides>
  <Notes>3</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Georgia</vt:lpstr>
      <vt:lpstr>Poppins</vt:lpstr>
      <vt:lpstr>Aptos</vt:lpstr>
      <vt:lpstr>ChatGPT</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Darshan Rajagoli</cp:lastModifiedBy>
  <cp:revision>1</cp:revision>
  <dcterms:created xsi:type="dcterms:W3CDTF">2026-10-14T19:04:01Z</dcterms:created>
  <dcterms:modified xsi:type="dcterms:W3CDTF">2026-10-14T19:04:08Z</dcterms:modified>
</cp:coreProperties>
</file>