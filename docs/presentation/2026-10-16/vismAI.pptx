
<file path=[Content_Types].xml><?xml version="1.0" encoding="utf-8"?>
<Types xmlns="http://schemas.openxmlformats.org/package/2006/content-types">
  <Default Extension="fntdata" ContentType="application/x-fontdata"/>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Lst>
  <p:notesMasterIdLst>
    <p:notesMasterId r:id="rId5"/>
  </p:notesMasterIdLst>
  <p:sldIdLst>
    <p:sldId id="256" r:id="rId2"/>
    <p:sldId id="257" r:id="rId3"/>
    <p:sldId id="258" r:id="rId4"/>
  </p:sldIdLst>
  <p:sldSz cx="12192000" cy="6858000"/>
  <p:notesSz cx="6858000" cy="9144000"/>
  <p:embeddedFontLst>
    <p:embeddedFont>
      <p:font typeface="Georgia" panose="02040502050405020303" pitchFamily="18" charset="0"/>
      <p:regular r:id="rId6"/>
      <p:bold r:id="rId7"/>
      <p:italic r:id="rId8"/>
      <p:boldItalic r:id="rId9"/>
    </p:embeddedFont>
    <p:embeddedFont>
      <p:font typeface="Poppins" panose="00000500000000000000" pitchFamily="2" charset="0"/>
      <p:bold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3.fntdata"/><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font" Target="fonts/font2.fntdata"/><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font" Target="fonts/font1.fntdata"/><Relationship Id="rId11" Type="http://schemas.openxmlformats.org/officeDocument/2006/relationships/presProps" Target="presProps.xml"/><Relationship Id="rId5" Type="http://schemas.openxmlformats.org/officeDocument/2006/relationships/notesMaster" Target="notesMasters/notesMaster1.xml"/><Relationship Id="rId10"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font" Target="fonts/font4.fntdata"/><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1 — Vismay: opening and separation
[DO NOT READ ALOUD: Start on slide 1.]
Good morning. We are team vismAI. Our project, whospoke, identifies who spoke what and when in noisy Hindi–English conversations.
This simulated test conversation combines real Hindi speech, overlapping voices and market noise.
I handled Milestone One, separation. First, the mixed recording. Then, the two separated voices from an overlapping stretch within it.
[DO NOT READ ALOUD: Play Mixed recording first, about 18 seconds. Then play Speaker A and Speaker B, about 7.5 seconds each. If PC audio fails, read the fallback sentence below, then play the downloaded clips from YOUR OWN phone. Keep slide 1 visible. Do not replay a clip that already worked. Return here after playback. If both playback methods fail, continue immediately.]
[DO NOT READ ALOUD: Say the following sentence ONLY if switching to phone audio.]
We'll play the same clips from the phone.
[DO NOT READ ALOUD: RESUME HERE after playback.]
Separation improves S-I-S-D-R by nine point six decibels across two hundred and forty-five test overlap regions. Darshan will explain the speaker timeline.
Slide 1 — Darshan: your M2 output
I handled Milestone Two: who spoke when. This actual timeline labels Speaker A, then B, then A again, with start and end times.
We detect speech, extract short-window voice embeddings, and cluster similar embeddings into speaker groups. The labels are anonymous.
Our spectral configuration has twenty point three percent diarization error. The pyannote baseline gets eighteen point four; we do not beat it.
Our design decision was to diarize first, then separate detected overlaps. The next slide shows the difference.
[DO NOT READ ALOUD: Advance to slide 2. Vismay speaks next.]
Sources: see DATA_AND_SOURCES.md in docs/presentation/2026-10-16. Project evidence from commit 8465f0b.</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2 — Vismay: transcript output
Abhinav handled Milestone Three. These saved Hinglish lines retain speakers and timestamps. We also output Devanagari and subtitles.
For speech recognition alone, IndicConformer gets twenty-one percent word error on four hundred Vaani clips, compared with thirty-eight percent for IndicWav2Vec.
Darshan will explain the full-pipeline comparison on the right.
Slide 2 — Darshan: the main result
We tested both orders on the same seventy-two simulated conversations, about eighty-three minutes across eight speaker groups.
Our metric, C-P-W-E-R, measures word errors and speaker attribution errors. Lower is better.
Separating first gives fifty-five point eight percent. Diarizing first gives forty-nine point five, and wins in fifty of the seventy-two conversations.
The order matters. We implemented both and chose using measured outputs. Errors remain substantial; the problem is not solved.
[DO NOT READ ALOUD: Advance to slide 3. Vismay speaks next.]
Sources: see DATA_AND_SOURCES.md in docs/presentation/2026-10-16. Project evidence from commit 8465f0b.</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Slide 3 — Vismay: report output and its limits
Shrivaths handled Milestone Four. Airavata produces summaries, keywords and translated dialogue. These saved excerpts concern a lost ID card and office hours.
Speaker labels and times stay unchanged. But transcript repair adds zero point nine C-P-W-E-R points on average across sixty-three conversations. No accepted action items remain in the two hundred and fifty-two evaluated reports.
So the original transcript remains the record, and the report needs checking.
Slide 3 — Darshan: closing
Our next steps are to improve Hindi speaker embeddings, evaluate a larger language model for action items, and retrain separation on Indian voices and noise.
These are proposed experiments. Today we have shown every stage's output, the measured benefit of changing the order, and the remaining limitations. Thank you.
[DO NOT READ ALOUD: End. Vismay answers M1 questions, Darshan M2, Abhinav M3 and Shrivaths M4.]
Sources: see DATA_AND_SOURCES.md in docs/presentation/2026-10-16. Project evidence from commit 8465f0b.</a:t>
            </a:r>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9A8D4BED-48B8-42D7-BAF3-5514EE11BB0B}"/>
              </a:ext>
            </a:extLst>
          </p:cNvPr>
          <p:cNvSpPr>
            <a:spLocks noGrp="1"/>
          </p:cNvSpPr>
          <p:nvPr>
            <p:ph type="title"/>
          </p:nvPr>
        </p:nvSpPr>
        <p:spPr>
          <a:xfrm>
            <a:off x="1219200" y="2590800"/>
            <a:ext cx="9753600" cy="990600"/>
          </a:xfrm>
          <a:prstGeom prst="rect">
            <a:avLst/>
          </a:prstGeom>
          <a:noFill/>
          <a:ln>
            <a:noFill/>
            <a:prstDash val="solid"/>
          </a:ln>
        </p:spPr>
        <p:txBody>
          <a:bodyPr wrap="square" lIns="0" tIns="0" rIns="0" bIns="0" anchor="ctr">
            <a:normAutofit/>
          </a:bodyPr>
          <a:lstStyle>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Subtitle">
            <a:extLst>
              <a:ext uri="{FF2B5EF4-FFF2-40B4-BE49-F238E27FC236}">
                <a16:creationId xmlns:a16="http://schemas.microsoft.com/office/drawing/2014/main" id="{D11DB31F-1CA3-4B75-BCCC-7CC921FE5E54}"/>
              </a:ext>
            </a:extLst>
          </p:cNvPr>
          <p:cNvSpPr>
            <a:spLocks noGrp="1"/>
          </p:cNvSpPr>
          <p:nvPr>
            <p:ph type="subTitle" idx="1"/>
          </p:nvPr>
        </p:nvSpPr>
        <p:spPr>
          <a:xfrm>
            <a:off x="1828800" y="3771900"/>
            <a:ext cx="8534400" cy="762000"/>
          </a:xfrm>
          <a:prstGeom prst="rect">
            <a:avLst/>
          </a:prstGeom>
          <a:noFill/>
          <a:ln>
            <a:noFill/>
            <a:prstDash val="solid"/>
          </a:ln>
        </p:spPr>
        <p:txBody>
          <a:bodyPr wrap="square" lIns="0" tIns="0" rIns="0" bIns="0" anchor="ctr">
            <a:normAutofit/>
          </a:bodyPr>
          <a:lstStyle>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a:xfrm>
          <a:off x="0" y="0"/>
          <a:ext cx="0" cy="0"/>
          <a:chOff x="0" y="0"/>
          <a:chExt cx="0" cy="0"/>
        </a:xfrm>
      </p:grpSpPr>
      <p:sp>
        <p:nvSpPr>
          <p:cNvPr id="2" name="Section title">
            <a:extLst>
              <a:ext uri="{FF2B5EF4-FFF2-40B4-BE49-F238E27FC236}">
                <a16:creationId xmlns:a16="http://schemas.microsoft.com/office/drawing/2014/main" id="{7915B1CD-981B-411D-B0F6-0C140BB28CFA}"/>
              </a:ext>
            </a:extLst>
          </p:cNvPr>
          <p:cNvSpPr>
            <a:spLocks noGrp="1"/>
          </p:cNvSpPr>
          <p:nvPr>
            <p:ph type="title"/>
          </p:nvPr>
        </p:nvSpPr>
        <p:spPr>
          <a:xfrm>
            <a:off x="1219200" y="2857500"/>
            <a:ext cx="9753600" cy="1143000"/>
          </a:xfrm>
          <a:prstGeom prst="rect">
            <a:avLst/>
          </a:prstGeom>
          <a:noFill/>
          <a:ln>
            <a:noFill/>
            <a:prstDash val="solid"/>
          </a:ln>
        </p:spPr>
        <p:txBody>
          <a:bodyPr wrap="square" lIns="0" tIns="0" rIns="0" bIns="0" anchor="ctr">
            <a:normAutofit/>
          </a:bodyPr>
          <a:lstStyle>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082E9E20-5A95-46AB-BF9F-57599DE0EC3B}"/>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Body">
            <a:extLst>
              <a:ext uri="{FF2B5EF4-FFF2-40B4-BE49-F238E27FC236}">
                <a16:creationId xmlns:a16="http://schemas.microsoft.com/office/drawing/2014/main" id="{C1DBEE01-DB6B-4591-A250-C1275DFC434B}"/>
              </a:ext>
            </a:extLst>
          </p:cNvPr>
          <p:cNvSpPr>
            <a:spLocks noGrp="1"/>
          </p:cNvSpPr>
          <p:nvPr>
            <p:ph type="body" idx="1"/>
          </p:nvPr>
        </p:nvSpPr>
        <p:spPr>
          <a:xfrm>
            <a:off x="685800" y="1905000"/>
            <a:ext cx="108204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a:xfrm>
          <a:off x="0" y="0"/>
          <a:ext cx="0" cy="0"/>
          <a:chOff x="0" y="0"/>
          <a:chExt cx="0" cy="0"/>
        </a:xfrm>
      </p:grpSpPr>
      <p:sp>
        <p:nvSpPr>
          <p:cNvPr id="4" name="Title">
            <a:extLst>
              <a:ext uri="{FF2B5EF4-FFF2-40B4-BE49-F238E27FC236}">
                <a16:creationId xmlns:a16="http://schemas.microsoft.com/office/drawing/2014/main" id="{1F3D792B-6BA5-4686-89FD-E778D7C2AD76}"/>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1E6F27E7-F020-4CA1-91C7-1A34221C835A}"/>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
        <p:nvSpPr>
          <p:cNvPr id="3" name="Right column">
            <a:extLst>
              <a:ext uri="{FF2B5EF4-FFF2-40B4-BE49-F238E27FC236}">
                <a16:creationId xmlns:a16="http://schemas.microsoft.com/office/drawing/2014/main" id="{59D866EF-6120-47C3-9B30-CFB0AE849ABC}"/>
              </a:ext>
            </a:extLst>
          </p:cNvPr>
          <p:cNvSpPr>
            <a:spLocks noGrp="1"/>
          </p:cNvSpPr>
          <p:nvPr>
            <p:ph type="body" idx="2"/>
          </p:nvPr>
        </p:nvSpPr>
        <p:spPr>
          <a:xfrm>
            <a:off x="6477000" y="1905000"/>
            <a:ext cx="5029200" cy="4267200"/>
          </a:xfrm>
          <a:prstGeom prst="rect">
            <a:avLst/>
          </a:prstGeom>
          <a:noFill/>
          <a:ln>
            <a:noFill/>
            <a:prstDash val="solid"/>
          </a:ln>
        </p:spPr>
        <p:txBody>
          <a:bodyPr wrap="square" lIns="0" tIns="0" rIns="0" bIns="0" anchor="t">
            <a:normAutofit/>
          </a:bodyPr>
          <a:lstStyle>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a:xfrm>
          <a:off x="0" y="0"/>
          <a:ext cx="0" cy="0"/>
          <a:chOff x="0" y="0"/>
          <a:chExt cx="0" cy="0"/>
        </a:xfrm>
      </p:grpSpPr>
      <p:sp>
        <p:nvSpPr>
          <p:cNvPr id="3" name="Title">
            <a:extLst>
              <a:ext uri="{FF2B5EF4-FFF2-40B4-BE49-F238E27FC236}">
                <a16:creationId xmlns:a16="http://schemas.microsoft.com/office/drawing/2014/main" id="{10C50D24-B965-49B6-ACEC-AA3238D11F38}"/>
              </a:ext>
            </a:extLst>
          </p:cNvPr>
          <p:cNvSpPr>
            <a:spLocks noGrp="1"/>
          </p:cNvSpPr>
          <p:nvPr>
            <p:ph type="title"/>
          </p:nvPr>
        </p:nvSpPr>
        <p:spPr>
          <a:xfrm>
            <a:off x="685800" y="533400"/>
            <a:ext cx="10820400" cy="838200"/>
          </a:xfrm>
          <a:prstGeom prst="rect">
            <a:avLst/>
          </a:prstGeom>
          <a:noFill/>
          <a:ln>
            <a:noFill/>
            <a:prstDash val="solid"/>
          </a:ln>
        </p:spPr>
        <p:txBody>
          <a:bodyPr wrap="square" lIns="0" tIns="0" rIns="0" bIns="0" anchor="t">
            <a:normAutofit/>
          </a:bodyPr>
          <a:lstStyle>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a:endParaRPr/>
          </a:p>
        </p:txBody>
      </p:sp>
      <p:sp>
        <p:nvSpPr>
          <p:cNvPr id="2" name="Left column">
            <a:extLst>
              <a:ext uri="{FF2B5EF4-FFF2-40B4-BE49-F238E27FC236}">
                <a16:creationId xmlns:a16="http://schemas.microsoft.com/office/drawing/2014/main" id="{74D551B8-EC58-4D0E-B324-2B56161950F3}"/>
              </a:ext>
            </a:extLst>
          </p:cNvPr>
          <p:cNvSpPr>
            <a:spLocks noGrp="1"/>
          </p:cNvSpPr>
          <p:nvPr>
            <p:ph type="body" idx="1"/>
          </p:nvPr>
        </p:nvSpPr>
        <p:spPr>
          <a:xfrm>
            <a:off x="685800" y="1905000"/>
            <a:ext cx="5029200" cy="4267200"/>
          </a:xfrm>
          <a:prstGeom prst="rect">
            <a:avLst/>
          </a:prstGeom>
          <a:noFill/>
          <a:ln>
            <a:noFill/>
            <a:prstDash val="solid"/>
          </a:ln>
        </p:spPr>
        <p:txBody>
          <a:bodyPr wrap="square" lIns="0" tIns="0" rIns="0" bIns="0" anchor="t">
            <a:normAutofit/>
          </a:bodyPr>
          <a:lstStyle>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notesSlide" Target="../notesSlides/notesSlide1.xml"/><Relationship Id="rId3" Type="http://schemas.microsoft.com/office/2007/relationships/media" Target="../media/media2.mp4"/><Relationship Id="rId7" Type="http://schemas.openxmlformats.org/officeDocument/2006/relationships/slideLayout" Target="../slideLayouts/slideLayout6.xml"/><Relationship Id="rId2" Type="http://schemas.openxmlformats.org/officeDocument/2006/relationships/video" Target="../media/media1.mp4"/><Relationship Id="rId1" Type="http://schemas.microsoft.com/office/2007/relationships/media" Target="../media/media1.mp4"/><Relationship Id="rId6" Type="http://schemas.openxmlformats.org/officeDocument/2006/relationships/video" Target="../media/media3.mp4"/><Relationship Id="rId11" Type="http://schemas.openxmlformats.org/officeDocument/2006/relationships/image" Target="../media/image3.png"/><Relationship Id="rId5" Type="http://schemas.microsoft.com/office/2007/relationships/media" Target="../media/media3.mp4"/><Relationship Id="rId10" Type="http://schemas.openxmlformats.org/officeDocument/2006/relationships/image" Target="../media/image2.png"/><Relationship Id="rId4" Type="http://schemas.openxmlformats.org/officeDocument/2006/relationships/video" Target="../media/media2.mp4"/><Relationship Id="rId9" Type="http://schemas.openxmlformats.org/officeDocument/2006/relationships/image" Target="../media/image1.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D056A5BE-C193-465C-966D-095F9A45835D}"/>
              </a:ext>
            </a:extLst>
          </p:cNvPr>
          <p:cNvSpPr>
            <a:spLocks noGrp="1"/>
          </p:cNvSpPr>
          <p:nvPr/>
        </p:nvSpPr>
        <p:spPr>
          <a:xfrm>
            <a:off x="609600" y="314325"/>
            <a:ext cx="8572500" cy="209550"/>
          </a:xfrm>
          <a:prstGeom prst="rect">
            <a:avLst/>
          </a:prstGeom>
          <a:noFill/>
          <a:ln w="0">
            <a:noFill/>
          </a:ln>
        </p:spPr>
        <p:txBody>
          <a:bodyPr lIns="0" tIns="0" rIns="0" bIns="0" anchor="t"/>
          <a:lstStyle>
            <a:defPPr>
              <a:defRPr sz="1125" b="0">
                <a:solidFill>
                  <a:srgbClr val="5E5D59"/>
                </a:solidFill>
                <a:latin typeface="Poppins"/>
                <a:ea typeface="Poppins"/>
                <a:cs typeface="Poppins"/>
              </a:defRPr>
            </a:defPPr>
          </a:lstStyle>
          <a:p>
            <a:pPr>
              <a:defRPr sz="1125" b="0">
                <a:solidFill>
                  <a:srgbClr val="5E5D59"/>
                </a:solidFill>
                <a:latin typeface="Poppins"/>
                <a:ea typeface="Poppins"/>
                <a:cs typeface="Poppins"/>
              </a:defRPr>
            </a:pPr>
            <a:r>
              <a:rPr sz="1125" b="0">
                <a:solidFill>
                  <a:srgbClr val="5E5D59"/>
                </a:solidFill>
                <a:latin typeface="Poppins"/>
                <a:ea typeface="Poppins"/>
                <a:cs typeface="Poppins"/>
              </a:rPr>
              <a:t>TEAM vismAI / CS F407</a:t>
            </a:r>
          </a:p>
        </p:txBody>
      </p:sp>
      <p:sp>
        <p:nvSpPr>
          <p:cNvPr id="2" name="Rectangle 1">
            <a:extLst>
              <a:ext uri="{FF2B5EF4-FFF2-40B4-BE49-F238E27FC236}">
                <a16:creationId xmlns:a16="http://schemas.microsoft.com/office/drawing/2014/main" id="{01D5E738-7B7E-4CEB-8D54-3D82F6F8F567}"/>
              </a:ext>
            </a:extLst>
          </p:cNvPr>
          <p:cNvSpPr>
            <a:spLocks noGrp="1"/>
          </p:cNvSpPr>
          <p:nvPr/>
        </p:nvSpPr>
        <p:spPr>
          <a:xfrm>
            <a:off x="609600" y="695325"/>
            <a:ext cx="10972800" cy="619125"/>
          </a:xfrm>
          <a:prstGeom prst="rect">
            <a:avLst/>
          </a:prstGeom>
          <a:noFill/>
          <a:ln w="0">
            <a:noFill/>
          </a:ln>
        </p:spPr>
        <p:txBody>
          <a:bodyPr lIns="0" tIns="0" rIns="0" bIns="0" anchor="t"/>
          <a:lstStyle>
            <a:defPPr>
              <a:defRPr sz="3000" b="1">
                <a:solidFill>
                  <a:srgbClr val="141413"/>
                </a:solidFill>
                <a:latin typeface="Poppins"/>
                <a:ea typeface="Poppins"/>
                <a:cs typeface="Poppins"/>
              </a:defRPr>
            </a:defPPr>
          </a:lstStyle>
          <a:p>
            <a:pPr>
              <a:defRPr sz="3000" b="1">
                <a:solidFill>
                  <a:srgbClr val="141413"/>
                </a:solidFill>
                <a:latin typeface="Poppins"/>
                <a:ea typeface="Poppins"/>
                <a:cs typeface="Poppins"/>
              </a:defRPr>
            </a:pPr>
            <a:r>
              <a:rPr sz="3000" b="1">
                <a:solidFill>
                  <a:srgbClr val="141413"/>
                </a:solidFill>
                <a:latin typeface="Poppins"/>
                <a:ea typeface="Poppins"/>
                <a:cs typeface="Poppins"/>
              </a:rPr>
              <a:t>Separated voices and speaker timelines</a:t>
            </a:r>
          </a:p>
        </p:txBody>
      </p:sp>
      <p:sp>
        <p:nvSpPr>
          <p:cNvPr id="3" name="Rectangle 2">
            <a:extLst>
              <a:ext uri="{FF2B5EF4-FFF2-40B4-BE49-F238E27FC236}">
                <a16:creationId xmlns:a16="http://schemas.microsoft.com/office/drawing/2014/main" id="{37A89043-FF89-4219-9FB0-61F09B4952E2}"/>
              </a:ext>
            </a:extLst>
          </p:cNvPr>
          <p:cNvSpPr>
            <a:spLocks noGrp="1"/>
          </p:cNvSpPr>
          <p:nvPr/>
        </p:nvSpPr>
        <p:spPr>
          <a:xfrm>
            <a:off x="609600" y="1362075"/>
            <a:ext cx="10972800" cy="552450"/>
          </a:xfrm>
          <a:prstGeom prst="rect">
            <a:avLst/>
          </a:prstGeom>
          <a:noFill/>
          <a:ln w="0">
            <a:noFill/>
          </a:ln>
        </p:spPr>
        <p:txBody>
          <a:bodyPr lIns="0" tIns="0" rIns="0" bIns="0" anchor="t"/>
          <a:lstStyle>
            <a:defPPr>
              <a:defRPr sz="1575" b="0">
                <a:solidFill>
                  <a:srgbClr val="5E5D59"/>
                </a:solidFill>
                <a:latin typeface="Georgia"/>
                <a:ea typeface="Georgia"/>
                <a:cs typeface="Georgia"/>
              </a:defRPr>
            </a:defPPr>
          </a:lstStyle>
          <a:p>
            <a:pPr>
              <a:defRPr sz="1575" b="0">
                <a:solidFill>
                  <a:srgbClr val="5E5D59"/>
                </a:solidFill>
                <a:latin typeface="Georgia"/>
                <a:ea typeface="Georgia"/>
                <a:cs typeface="Georgia"/>
              </a:defRPr>
            </a:pPr>
            <a:r>
              <a:rPr sz="1575" b="0">
                <a:solidFill>
                  <a:srgbClr val="5E5D59"/>
                </a:solidFill>
                <a:latin typeface="Georgia"/>
                <a:ea typeface="Georgia"/>
                <a:cs typeface="Georgia"/>
              </a:rPr>
              <a:t>Simulated test conversation: real Hindi speech, two speakers, heavy overlap and 5 dB market noise.</a:t>
            </a:r>
          </a:p>
        </p:txBody>
      </p:sp>
      <p:sp>
        <p:nvSpPr>
          <p:cNvPr id="4" name="Rectangle 3">
            <a:extLst>
              <a:ext uri="{FF2B5EF4-FFF2-40B4-BE49-F238E27FC236}">
                <a16:creationId xmlns:a16="http://schemas.microsoft.com/office/drawing/2014/main" id="{C7F9C625-5754-49B1-B063-39916969FCD8}"/>
              </a:ext>
            </a:extLst>
          </p:cNvPr>
          <p:cNvSpPr>
            <a:spLocks noGrp="1"/>
          </p:cNvSpPr>
          <p:nvPr/>
        </p:nvSpPr>
        <p:spPr>
          <a:xfrm>
            <a:off x="609600" y="6486525"/>
            <a:ext cx="10972800" cy="209550"/>
          </a:xfrm>
          <a:prstGeom prst="rect">
            <a:avLst/>
          </a:prstGeom>
          <a:noFill/>
          <a:ln w="0">
            <a:noFill/>
          </a:ln>
        </p:spPr>
        <p:txBody>
          <a:bodyPr lIns="0" tIns="0" rIns="0" bIns="0" anchor="t"/>
          <a:lstStyle>
            <a:defPPr>
              <a:defRPr sz="1050" b="0">
                <a:solidFill>
                  <a:srgbClr val="5E5D59"/>
                </a:solidFill>
                <a:latin typeface="Poppins"/>
                <a:ea typeface="Poppins"/>
                <a:cs typeface="Poppins"/>
              </a:defRPr>
            </a:defPPr>
          </a:lstStyle>
          <a:p>
            <a:pPr>
              <a:defRPr sz="1050" b="0">
                <a:solidFill>
                  <a:srgbClr val="5E5D59"/>
                </a:solidFill>
                <a:latin typeface="Poppins"/>
                <a:ea typeface="Poppins"/>
                <a:cs typeface="Poppins"/>
              </a:defRPr>
            </a:pPr>
            <a:r>
              <a:rPr sz="1050" b="0">
                <a:solidFill>
                  <a:srgbClr val="5E5D59"/>
                </a:solidFill>
                <a:latin typeface="Poppins"/>
                <a:ea typeface="Poppins"/>
                <a:cs typeface="Poppins"/>
              </a:rPr>
              <a:t>whospoke     1 / 3</a:t>
            </a:r>
          </a:p>
        </p:txBody>
      </p:sp>
      <p:sp>
        <p:nvSpPr>
          <p:cNvPr id="5" name="Rectangle 4">
            <a:extLst>
              <a:ext uri="{FF2B5EF4-FFF2-40B4-BE49-F238E27FC236}">
                <a16:creationId xmlns:a16="http://schemas.microsoft.com/office/drawing/2014/main" id="{A46EAC62-8C1F-43CC-956C-0830081CEFA6}"/>
              </a:ext>
            </a:extLst>
          </p:cNvPr>
          <p:cNvSpPr>
            <a:spLocks noGrp="1"/>
          </p:cNvSpPr>
          <p:nvPr/>
        </p:nvSpPr>
        <p:spPr>
          <a:xfrm>
            <a:off x="609600" y="2057400"/>
            <a:ext cx="5143500" cy="342900"/>
          </a:xfrm>
          <a:prstGeom prst="rect">
            <a:avLst/>
          </a:prstGeom>
          <a:noFill/>
          <a:ln w="0">
            <a:noFill/>
          </a:ln>
        </p:spPr>
        <p:txBody>
          <a:bodyPr lIns="0" tIns="0" rIns="0" bIns="0" anchor="t"/>
          <a:lstStyle>
            <a:defPPr>
              <a:defRPr sz="1875" b="1">
                <a:solidFill>
                  <a:srgbClr val="141413"/>
                </a:solidFill>
                <a:latin typeface="Poppins"/>
                <a:ea typeface="Poppins"/>
                <a:cs typeface="Poppins"/>
              </a:defRPr>
            </a:defPPr>
          </a:lstStyle>
          <a:p>
            <a:pPr>
              <a:defRPr sz="1875" b="1">
                <a:solidFill>
                  <a:srgbClr val="141413"/>
                </a:solidFill>
                <a:latin typeface="Poppins"/>
                <a:ea typeface="Poppins"/>
                <a:cs typeface="Poppins"/>
              </a:defRPr>
            </a:pPr>
            <a:r>
              <a:rPr sz="1875" b="1">
                <a:solidFill>
                  <a:srgbClr val="141413"/>
                </a:solidFill>
                <a:latin typeface="Poppins"/>
                <a:ea typeface="Poppins"/>
                <a:cs typeface="Poppins"/>
              </a:rPr>
              <a:t>M1  Separation / Vismay</a:t>
            </a:r>
          </a:p>
        </p:txBody>
      </p:sp>
      <p:sp>
        <p:nvSpPr>
          <p:cNvPr id="6" name="Rectangle 5">
            <a:extLst>
              <a:ext uri="{FF2B5EF4-FFF2-40B4-BE49-F238E27FC236}">
                <a16:creationId xmlns:a16="http://schemas.microsoft.com/office/drawing/2014/main" id="{C8E49900-8F1A-4D12-9ADF-14BD8B99093E}"/>
              </a:ext>
            </a:extLst>
          </p:cNvPr>
          <p:cNvSpPr>
            <a:spLocks noGrp="1"/>
          </p:cNvSpPr>
          <p:nvPr/>
        </p:nvSpPr>
        <p:spPr>
          <a:xfrm>
            <a:off x="609600" y="2457450"/>
            <a:ext cx="5238750" cy="285750"/>
          </a:xfrm>
          <a:prstGeom prst="rect">
            <a:avLst/>
          </a:prstGeom>
          <a:noFill/>
          <a:ln w="0">
            <a:noFill/>
          </a:ln>
        </p:spPr>
        <p:txBody>
          <a:bodyPr lIns="0" tIns="0" rIns="0" bIns="0" anchor="t"/>
          <a:lstStyle>
            <a:defPPr>
              <a:defRPr sz="1500" b="1">
                <a:solidFill>
                  <a:srgbClr val="141413"/>
                </a:solidFill>
                <a:latin typeface="Poppins"/>
                <a:ea typeface="Poppins"/>
                <a:cs typeface="Poppins"/>
              </a:defRPr>
            </a:defPPr>
          </a:lstStyle>
          <a:p>
            <a:pPr>
              <a:defRPr sz="1500" b="1">
                <a:solidFill>
                  <a:srgbClr val="141413"/>
                </a:solidFill>
                <a:latin typeface="Poppins"/>
                <a:ea typeface="Poppins"/>
                <a:cs typeface="Poppins"/>
              </a:defRPr>
            </a:pPr>
            <a:r>
              <a:rPr sz="1500" b="1">
                <a:solidFill>
                  <a:srgbClr val="141413"/>
                </a:solidFill>
                <a:latin typeface="Poppins"/>
                <a:ea typeface="Poppins"/>
                <a:cs typeface="Poppins"/>
              </a:rPr>
              <a:t>1  Mixed recording</a:t>
            </a:r>
          </a:p>
        </p:txBody>
      </p:sp>
      <p:pic>
        <p:nvPicPr>
          <p:cNvPr id="7" name="Picture 6">
            <a:extLst>
              <a:ext uri="{FF2B5EF4-FFF2-40B4-BE49-F238E27FC236}">
                <a16:creationId xmlns:a16="http://schemas.microsoft.com/office/drawing/2014/main" id="{2CE46855-3EBF-4354-AA76-5D5838569227}"/>
              </a:ext>
            </a:extLst>
          </p:cNvPr>
          <p:cNvPicPr>
            <a:picLocks noChangeAspect="1"/>
          </p:cNvPicPr>
          <p:nvPr/>
        </p:nvPicPr>
        <p:blipFill>
          <a:blip r:embed="rId9"/>
          <a:stretch/>
        </p:blipFill>
        <p:spPr>
          <a:xfrm>
            <a:off x="609600" y="2809875"/>
            <a:ext cx="3429000" cy="1928813"/>
          </a:xfrm>
          <a:prstGeom prst="rect">
            <a:avLst/>
          </a:prstGeom>
        </p:spPr>
      </p:pic>
      <p:sp>
        <p:nvSpPr>
          <p:cNvPr id="8" name="Rectangle 7">
            <a:extLst>
              <a:ext uri="{FF2B5EF4-FFF2-40B4-BE49-F238E27FC236}">
                <a16:creationId xmlns:a16="http://schemas.microsoft.com/office/drawing/2014/main" id="{AFAC3B5E-7018-4343-8333-EBB07013C596}"/>
              </a:ext>
            </a:extLst>
          </p:cNvPr>
          <p:cNvSpPr>
            <a:spLocks noGrp="1"/>
          </p:cNvSpPr>
          <p:nvPr/>
        </p:nvSpPr>
        <p:spPr>
          <a:xfrm>
            <a:off x="4248150" y="3133725"/>
            <a:ext cx="1504950" cy="1476375"/>
          </a:xfrm>
          <a:prstGeom prst="rect">
            <a:avLst/>
          </a:prstGeom>
          <a:noFill/>
          <a:ln w="0">
            <a:noFill/>
          </a:ln>
        </p:spPr>
        <p:txBody>
          <a:bodyPr lIns="0" tIns="0" rIns="0" bIns="0" anchor="t"/>
          <a:lstStyle>
            <a:defPPr>
              <a:defRPr sz="1425" b="0">
                <a:solidFill>
                  <a:srgbClr val="5E5D59"/>
                </a:solidFill>
                <a:latin typeface="Georgia"/>
                <a:ea typeface="Georgia"/>
                <a:cs typeface="Georgia"/>
              </a:defRPr>
            </a:defPPr>
          </a:lstStyle>
          <a:p>
            <a:pPr>
              <a:defRPr sz="1425" b="0">
                <a:solidFill>
                  <a:srgbClr val="5E5D59"/>
                </a:solidFill>
                <a:latin typeface="Georgia"/>
                <a:ea typeface="Georgia"/>
                <a:cs typeface="Georgia"/>
              </a:defRPr>
            </a:pPr>
            <a:r>
              <a:rPr sz="1425" b="0">
                <a:solidFill>
                  <a:srgbClr val="5E5D59"/>
                </a:solidFill>
                <a:latin typeface="Georgia"/>
                <a:ea typeface="Georgia"/>
                <a:cs typeface="Georgia"/>
              </a:rPr>
              <a:t>26.4–44.8 s</a:t>
            </a:r>
          </a:p>
          <a:p>
            <a:pPr>
              <a:defRPr sz="1425" b="0">
                <a:solidFill>
                  <a:srgbClr val="5E5D59"/>
                </a:solidFill>
                <a:latin typeface="Georgia"/>
                <a:ea typeface="Georgia"/>
                <a:cs typeface="Georgia"/>
              </a:defRPr>
            </a:pPr>
            <a:r>
              <a:rPr sz="1425" b="0">
                <a:solidFill>
                  <a:srgbClr val="5E5D59"/>
                </a:solidFill>
                <a:latin typeface="Georgia"/>
                <a:ea typeface="Georgia"/>
                <a:cs typeface="Georgia"/>
              </a:rPr>
              <a:t>Original mixture</a:t>
            </a:r>
          </a:p>
          <a:p>
            <a:endParaRPr sz="1425" b="0">
              <a:solidFill>
                <a:srgbClr val="5E5D59"/>
              </a:solidFill>
              <a:latin typeface="Georgia"/>
              <a:ea typeface="Georgia"/>
              <a:cs typeface="Georgia"/>
            </a:endParaRPr>
          </a:p>
          <a:p>
            <a:pPr>
              <a:defRPr sz="1425" b="0">
                <a:solidFill>
                  <a:srgbClr val="5E5D59"/>
                </a:solidFill>
                <a:latin typeface="Georgia"/>
                <a:ea typeface="Georgia"/>
                <a:cs typeface="Georgia"/>
              </a:defRPr>
            </a:pPr>
            <a:r>
              <a:rPr sz="1425" b="0">
                <a:solidFill>
                  <a:srgbClr val="5E5D59"/>
                </a:solidFill>
                <a:latin typeface="Georgia"/>
                <a:ea typeface="Georgia"/>
                <a:cs typeface="Georgia"/>
              </a:rPr>
              <a:t>Click to play</a:t>
            </a:r>
          </a:p>
        </p:txBody>
      </p:sp>
      <p:sp>
        <p:nvSpPr>
          <p:cNvPr id="9" name="Rectangle 8">
            <a:extLst>
              <a:ext uri="{FF2B5EF4-FFF2-40B4-BE49-F238E27FC236}">
                <a16:creationId xmlns:a16="http://schemas.microsoft.com/office/drawing/2014/main" id="{BB62BF4F-8963-416E-8AED-56CCF1D5FC8E}"/>
              </a:ext>
            </a:extLst>
          </p:cNvPr>
          <p:cNvSpPr>
            <a:spLocks noGrp="1"/>
          </p:cNvSpPr>
          <p:nvPr/>
        </p:nvSpPr>
        <p:spPr>
          <a:xfrm>
            <a:off x="609600" y="4895850"/>
            <a:ext cx="2514600" cy="285750"/>
          </a:xfrm>
          <a:prstGeom prst="rect">
            <a:avLst/>
          </a:prstGeom>
          <a:noFill/>
          <a:ln w="0">
            <a:noFill/>
          </a:ln>
        </p:spPr>
        <p:txBody>
          <a:bodyPr lIns="0" tIns="0" rIns="0" bIns="0" anchor="t"/>
          <a:lstStyle>
            <a:defPPr>
              <a:defRPr sz="1500" b="1">
                <a:solidFill>
                  <a:srgbClr val="D97757"/>
                </a:solidFill>
                <a:latin typeface="Poppins"/>
                <a:ea typeface="Poppins"/>
                <a:cs typeface="Poppins"/>
              </a:defRPr>
            </a:defPPr>
          </a:lstStyle>
          <a:p>
            <a:pPr>
              <a:defRPr sz="1500" b="1">
                <a:solidFill>
                  <a:srgbClr val="D97757"/>
                </a:solidFill>
                <a:latin typeface="Poppins"/>
                <a:ea typeface="Poppins"/>
                <a:cs typeface="Poppins"/>
              </a:defRPr>
            </a:pPr>
            <a:r>
              <a:rPr sz="1500" b="1">
                <a:solidFill>
                  <a:srgbClr val="D97757"/>
                </a:solidFill>
                <a:latin typeface="Poppins"/>
                <a:ea typeface="Poppins"/>
                <a:cs typeface="Poppins"/>
              </a:rPr>
              <a:t>2  Speaker A</a:t>
            </a:r>
          </a:p>
        </p:txBody>
      </p:sp>
      <p:sp>
        <p:nvSpPr>
          <p:cNvPr id="10" name="Rectangle 9">
            <a:extLst>
              <a:ext uri="{FF2B5EF4-FFF2-40B4-BE49-F238E27FC236}">
                <a16:creationId xmlns:a16="http://schemas.microsoft.com/office/drawing/2014/main" id="{25870706-35A7-42EF-BDF4-7EBEF84A7468}"/>
              </a:ext>
            </a:extLst>
          </p:cNvPr>
          <p:cNvSpPr>
            <a:spLocks noGrp="1"/>
          </p:cNvSpPr>
          <p:nvPr/>
        </p:nvSpPr>
        <p:spPr>
          <a:xfrm>
            <a:off x="3238500" y="4895850"/>
            <a:ext cx="2514600" cy="285750"/>
          </a:xfrm>
          <a:prstGeom prst="rect">
            <a:avLst/>
          </a:prstGeom>
          <a:noFill/>
          <a:ln w="0">
            <a:noFill/>
          </a:ln>
        </p:spPr>
        <p:txBody>
          <a:bodyPr lIns="0" tIns="0" rIns="0" bIns="0" anchor="t"/>
          <a:lstStyle>
            <a:defPPr>
              <a:defRPr sz="1500" b="1">
                <a:solidFill>
                  <a:srgbClr val="6A9BCC"/>
                </a:solidFill>
                <a:latin typeface="Poppins"/>
                <a:ea typeface="Poppins"/>
                <a:cs typeface="Poppins"/>
              </a:defRPr>
            </a:defPPr>
          </a:lstStyle>
          <a:p>
            <a:pPr>
              <a:defRPr sz="1500" b="1">
                <a:solidFill>
                  <a:srgbClr val="6A9BCC"/>
                </a:solidFill>
                <a:latin typeface="Poppins"/>
                <a:ea typeface="Poppins"/>
                <a:cs typeface="Poppins"/>
              </a:defRPr>
            </a:pPr>
            <a:r>
              <a:rPr sz="1500" b="1">
                <a:solidFill>
                  <a:srgbClr val="6A9BCC"/>
                </a:solidFill>
                <a:latin typeface="Poppins"/>
                <a:ea typeface="Poppins"/>
                <a:cs typeface="Poppins"/>
              </a:rPr>
              <a:t>3  Speaker B</a:t>
            </a:r>
          </a:p>
        </p:txBody>
      </p:sp>
      <p:pic>
        <p:nvPicPr>
          <p:cNvPr id="11" name="Picture 10">
            <a:extLst>
              <a:ext uri="{FF2B5EF4-FFF2-40B4-BE49-F238E27FC236}">
                <a16:creationId xmlns:a16="http://schemas.microsoft.com/office/drawing/2014/main" id="{4B312234-FC07-4A9C-B248-9B454BA78B90}"/>
              </a:ext>
            </a:extLst>
          </p:cNvPr>
          <p:cNvPicPr>
            <a:picLocks noChangeAspect="1"/>
          </p:cNvPicPr>
          <p:nvPr/>
        </p:nvPicPr>
        <p:blipFill>
          <a:blip r:embed="rId10"/>
          <a:stretch/>
        </p:blipFill>
        <p:spPr>
          <a:xfrm>
            <a:off x="609600" y="5229243"/>
            <a:ext cx="2514600" cy="709766"/>
          </a:xfrm>
          <a:prstGeom prst="rect">
            <a:avLst/>
          </a:prstGeom>
        </p:spPr>
      </p:pic>
      <p:pic>
        <p:nvPicPr>
          <p:cNvPr id="12" name="Picture 11">
            <a:extLst>
              <a:ext uri="{FF2B5EF4-FFF2-40B4-BE49-F238E27FC236}">
                <a16:creationId xmlns:a16="http://schemas.microsoft.com/office/drawing/2014/main" id="{B1DEC89B-B817-4801-9314-42449CF6A287}"/>
              </a:ext>
            </a:extLst>
          </p:cNvPr>
          <p:cNvPicPr>
            <a:picLocks noChangeAspect="1"/>
          </p:cNvPicPr>
          <p:nvPr/>
        </p:nvPicPr>
        <p:blipFill>
          <a:blip r:embed="rId11"/>
          <a:stretch/>
        </p:blipFill>
        <p:spPr>
          <a:xfrm>
            <a:off x="3238500" y="5229243"/>
            <a:ext cx="2514600" cy="709766"/>
          </a:xfrm>
          <a:prstGeom prst="rect">
            <a:avLst/>
          </a:prstGeom>
        </p:spPr>
      </p:pic>
      <p:sp>
        <p:nvSpPr>
          <p:cNvPr id="13" name="Rectangle 12">
            <a:extLst>
              <a:ext uri="{FF2B5EF4-FFF2-40B4-BE49-F238E27FC236}">
                <a16:creationId xmlns:a16="http://schemas.microsoft.com/office/drawing/2014/main" id="{E9F26EE4-09D8-4C38-B727-6F27AC0B906D}"/>
              </a:ext>
            </a:extLst>
          </p:cNvPr>
          <p:cNvSpPr>
            <a:spLocks noGrp="1"/>
          </p:cNvSpPr>
          <p:nvPr/>
        </p:nvSpPr>
        <p:spPr>
          <a:xfrm>
            <a:off x="609600" y="6029325"/>
            <a:ext cx="5276850" cy="342900"/>
          </a:xfrm>
          <a:prstGeom prst="rect">
            <a:avLst/>
          </a:prstGeom>
          <a:noFill/>
          <a:ln w="0">
            <a:noFill/>
          </a:ln>
        </p:spPr>
        <p:txBody>
          <a:bodyPr lIns="0" tIns="0" rIns="0" bIns="0" anchor="t"/>
          <a:lstStyle>
            <a:defPPr>
              <a:defRPr sz="1350" b="1">
                <a:solidFill>
                  <a:srgbClr val="141413"/>
                </a:solidFill>
                <a:latin typeface="Georgia"/>
                <a:ea typeface="Georgia"/>
                <a:cs typeface="Georgia"/>
              </a:defRPr>
            </a:defPPr>
          </a:lstStyle>
          <a:p>
            <a:pPr>
              <a:defRPr sz="1350" b="1">
                <a:solidFill>
                  <a:srgbClr val="141413"/>
                </a:solidFill>
                <a:latin typeface="Georgia"/>
                <a:ea typeface="Georgia"/>
                <a:cs typeface="Georgia"/>
              </a:defRPr>
            </a:pPr>
            <a:r>
              <a:rPr sz="1350" b="1">
                <a:solidFill>
                  <a:srgbClr val="141413"/>
                </a:solidFill>
                <a:latin typeface="Georgia"/>
                <a:ea typeface="Georgia"/>
                <a:cs typeface="Georgia"/>
              </a:rPr>
              <a:t>+9.6 dB SI-SDR improvement on 245 test overlap regions</a:t>
            </a:r>
          </a:p>
        </p:txBody>
      </p:sp>
      <p:sp>
        <p:nvSpPr>
          <p:cNvPr id="14" name="Rectangle 13">
            <a:extLst>
              <a:ext uri="{FF2B5EF4-FFF2-40B4-BE49-F238E27FC236}">
                <a16:creationId xmlns:a16="http://schemas.microsoft.com/office/drawing/2014/main" id="{5E7BC48E-9482-474E-B4C4-B0376955C6CC}"/>
              </a:ext>
            </a:extLst>
          </p:cNvPr>
          <p:cNvSpPr>
            <a:spLocks noGrp="1"/>
          </p:cNvSpPr>
          <p:nvPr/>
        </p:nvSpPr>
        <p:spPr>
          <a:xfrm>
            <a:off x="6343650" y="2057400"/>
            <a:ext cx="5238750" cy="342900"/>
          </a:xfrm>
          <a:prstGeom prst="rect">
            <a:avLst/>
          </a:prstGeom>
          <a:noFill/>
          <a:ln w="0">
            <a:noFill/>
          </a:ln>
        </p:spPr>
        <p:txBody>
          <a:bodyPr lIns="0" tIns="0" rIns="0" bIns="0" anchor="t"/>
          <a:lstStyle>
            <a:defPPr>
              <a:defRPr sz="1875" b="1">
                <a:solidFill>
                  <a:srgbClr val="141413"/>
                </a:solidFill>
                <a:latin typeface="Poppins"/>
                <a:ea typeface="Poppins"/>
                <a:cs typeface="Poppins"/>
              </a:defRPr>
            </a:defPPr>
          </a:lstStyle>
          <a:p>
            <a:pPr>
              <a:defRPr sz="1875" b="1">
                <a:solidFill>
                  <a:srgbClr val="141413"/>
                </a:solidFill>
                <a:latin typeface="Poppins"/>
                <a:ea typeface="Poppins"/>
                <a:cs typeface="Poppins"/>
              </a:defRPr>
            </a:pPr>
            <a:r>
              <a:rPr sz="1875" b="1">
                <a:solidFill>
                  <a:srgbClr val="141413"/>
                </a:solidFill>
                <a:latin typeface="Poppins"/>
                <a:ea typeface="Poppins"/>
                <a:cs typeface="Poppins"/>
              </a:rPr>
              <a:t>M2  Diarization / Darshan</a:t>
            </a:r>
          </a:p>
        </p:txBody>
      </p:sp>
      <p:sp>
        <p:nvSpPr>
          <p:cNvPr id="15" name="Rectangle 14">
            <a:extLst>
              <a:ext uri="{FF2B5EF4-FFF2-40B4-BE49-F238E27FC236}">
                <a16:creationId xmlns:a16="http://schemas.microsoft.com/office/drawing/2014/main" id="{5616CB34-0FB6-44B0-B6A2-68F061995C5D}"/>
              </a:ext>
            </a:extLst>
          </p:cNvPr>
          <p:cNvSpPr>
            <a:spLocks noGrp="1"/>
          </p:cNvSpPr>
          <p:nvPr/>
        </p:nvSpPr>
        <p:spPr>
          <a:xfrm>
            <a:off x="6343650" y="2457450"/>
            <a:ext cx="5238750" cy="285750"/>
          </a:xfrm>
          <a:prstGeom prst="rect">
            <a:avLst/>
          </a:prstGeom>
          <a:noFill/>
          <a:ln w="0">
            <a:noFill/>
          </a:ln>
        </p:spPr>
        <p:txBody>
          <a:bodyPr lIns="0" tIns="0" rIns="0" bIns="0" anchor="t"/>
          <a:lstStyle>
            <a:defPPr>
              <a:defRPr sz="1350" b="0">
                <a:solidFill>
                  <a:srgbClr val="5E5D59"/>
                </a:solidFill>
                <a:latin typeface="Georgia"/>
                <a:ea typeface="Georgia"/>
                <a:cs typeface="Georgia"/>
              </a:defRPr>
            </a:defPPr>
          </a:lstStyle>
          <a:p>
            <a:pPr>
              <a:defRPr sz="1350" b="0">
                <a:solidFill>
                  <a:srgbClr val="5E5D59"/>
                </a:solidFill>
                <a:latin typeface="Georgia"/>
                <a:ea typeface="Georgia"/>
                <a:cs typeface="Georgia"/>
              </a:defRPr>
            </a:pPr>
            <a:r>
              <a:rPr sz="1350" b="0">
                <a:solidFill>
                  <a:srgbClr val="5E5D59"/>
                </a:solidFill>
                <a:latin typeface="Georgia"/>
                <a:ea typeface="Georgia"/>
                <a:cs typeface="Georgia"/>
              </a:rPr>
              <a:t>Actual timeline.json output (excerpt)</a:t>
            </a:r>
          </a:p>
        </p:txBody>
      </p:sp>
      <p:graphicFrame>
        <p:nvGraphicFramePr>
          <p:cNvPr id="16" name="Table 15">
            <a:extLst>
              <a:ext uri="{FF2B5EF4-FFF2-40B4-BE49-F238E27FC236}">
                <a16:creationId xmlns:a16="http://schemas.microsoft.com/office/drawing/2014/main" id="{952911BE-CD4C-4F05-851A-736C7EF2B1D3}"/>
              </a:ext>
            </a:extLst>
          </p:cNvPr>
          <p:cNvGraphicFramePr/>
          <p:nvPr/>
        </p:nvGraphicFramePr>
        <p:xfrm>
          <a:off x="6343650" y="2924175"/>
          <a:ext cx="5238750" cy="2133600"/>
        </p:xfrm>
        <a:graphic>
          <a:graphicData uri="http://schemas.openxmlformats.org/drawingml/2006/table">
            <a:tbl>
              <a:tblPr/>
              <a:tblGrid>
                <a:gridCol w="1524000">
                  <a:extLst>
                    <a:ext uri="{9D8B030D-6E8A-4147-A177-3AD203B41FA5}">
                      <a16:colId xmlns:a16="http://schemas.microsoft.com/office/drawing/2014/main" val="20000"/>
                    </a:ext>
                  </a:extLst>
                </a:gridCol>
                <a:gridCol w="1524000">
                  <a:extLst>
                    <a:ext uri="{9D8B030D-6E8A-4147-A177-3AD203B41FA5}">
                      <a16:colId xmlns:a16="http://schemas.microsoft.com/office/drawing/2014/main" val="20001"/>
                    </a:ext>
                  </a:extLst>
                </a:gridCol>
                <a:gridCol w="2190750">
                  <a:extLst>
                    <a:ext uri="{9D8B030D-6E8A-4147-A177-3AD203B41FA5}">
                      <a16:colId xmlns:a16="http://schemas.microsoft.com/office/drawing/2014/main" val="20002"/>
                    </a:ext>
                  </a:extLst>
                </a:gridCol>
              </a:tblGrid>
              <a:tr h="533400">
                <a:tc>
                  <a:txBody>
                    <a:bodyPr/>
                    <a:lstStyle/>
                    <a:p>
                      <a:r>
                        <a:rPr sz="1575" b="1">
                          <a:solidFill>
                            <a:srgbClr val="141413"/>
                          </a:solidFill>
                          <a:latin typeface="Poppins"/>
                          <a:ea typeface="Poppins"/>
                          <a:cs typeface="Poppins"/>
                        </a:rPr>
                        <a:t>Start (s)</a:t>
                      </a:r>
                    </a:p>
                  </a:txBody>
                  <a:tcPr>
                    <a:lnL w="9525">
                      <a:solidFill>
                        <a:srgbClr val="E8E6DC"/>
                      </a:solidFill>
                    </a:lnL>
                    <a:lnR w="9525">
                      <a:solidFill>
                        <a:srgbClr val="E8E6DC"/>
                      </a:solidFill>
                    </a:lnR>
                    <a:lnT w="9525">
                      <a:solidFill>
                        <a:srgbClr val="E8E6DC"/>
                      </a:solidFill>
                    </a:lnT>
                    <a:lnB w="9525">
                      <a:solidFill>
                        <a:srgbClr val="E8E6DC"/>
                      </a:solidFill>
                    </a:lnB>
                    <a:solidFill>
                      <a:srgbClr val="F0EEE6"/>
                    </a:solidFill>
                  </a:tcPr>
                </a:tc>
                <a:tc>
                  <a:txBody>
                    <a:bodyPr/>
                    <a:lstStyle/>
                    <a:p>
                      <a:r>
                        <a:rPr sz="1575" b="1">
                          <a:solidFill>
                            <a:srgbClr val="141413"/>
                          </a:solidFill>
                          <a:latin typeface="Poppins"/>
                          <a:ea typeface="Poppins"/>
                          <a:cs typeface="Poppins"/>
                        </a:rPr>
                        <a:t>End (s)</a:t>
                      </a:r>
                    </a:p>
                  </a:txBody>
                  <a:tcPr>
                    <a:lnL w="9525" cap="flat" cmpd="sng" algn="ctr">
                      <a:solidFill>
                        <a:srgbClr val="E8E6DC"/>
                      </a:solidFill>
                      <a:prstDash val="solid"/>
                      <a:round/>
                      <a:headEnd type="none" w="med" len="med"/>
                      <a:tailEnd type="none" w="med" len="med"/>
                    </a:lnL>
                    <a:lnR w="9525">
                      <a:solidFill>
                        <a:srgbClr val="E8E6DC"/>
                      </a:solidFill>
                    </a:lnR>
                    <a:lnT w="9525">
                      <a:solidFill>
                        <a:srgbClr val="E8E6DC"/>
                      </a:solidFill>
                    </a:lnT>
                    <a:lnB w="9525">
                      <a:solidFill>
                        <a:srgbClr val="E8E6DC"/>
                      </a:solidFill>
                    </a:lnB>
                    <a:solidFill>
                      <a:srgbClr val="F0EEE6"/>
                    </a:solidFill>
                  </a:tcPr>
                </a:tc>
                <a:tc>
                  <a:txBody>
                    <a:bodyPr/>
                    <a:lstStyle/>
                    <a:p>
                      <a:r>
                        <a:rPr sz="1575" b="1">
                          <a:solidFill>
                            <a:srgbClr val="141413"/>
                          </a:solidFill>
                          <a:latin typeface="Poppins"/>
                          <a:ea typeface="Poppins"/>
                          <a:cs typeface="Poppins"/>
                        </a:rPr>
                        <a:t>Speaker</a:t>
                      </a:r>
                    </a:p>
                  </a:txBody>
                  <a:tcPr>
                    <a:lnL w="9525" cap="flat" cmpd="sng" algn="ctr">
                      <a:solidFill>
                        <a:srgbClr val="E8E6DC"/>
                      </a:solidFill>
                      <a:prstDash val="solid"/>
                      <a:round/>
                      <a:headEnd type="none" w="med" len="med"/>
                      <a:tailEnd type="none" w="med" len="med"/>
                    </a:lnL>
                    <a:lnR w="9525">
                      <a:solidFill>
                        <a:srgbClr val="E8E6DC"/>
                      </a:solidFill>
                    </a:lnR>
                    <a:lnT w="9525">
                      <a:solidFill>
                        <a:srgbClr val="E8E6DC"/>
                      </a:solidFill>
                    </a:lnT>
                    <a:lnB w="9525">
                      <a:solidFill>
                        <a:srgbClr val="E8E6DC"/>
                      </a:solidFill>
                    </a:lnB>
                    <a:solidFill>
                      <a:srgbClr val="F0EEE6"/>
                    </a:solidFill>
                  </a:tcPr>
                </a:tc>
                <a:extLst>
                  <a:ext uri="{0D108BD9-81ED-4DB2-BD59-A6C34878D82A}">
                    <a16:rowId xmlns:a16="http://schemas.microsoft.com/office/drawing/2014/main" val="10000"/>
                  </a:ext>
                </a:extLst>
              </a:tr>
              <a:tr h="533400">
                <a:tc>
                  <a:txBody>
                    <a:bodyPr/>
                    <a:lstStyle/>
                    <a:p>
                      <a:r>
                        <a:rPr sz="1725" b="0">
                          <a:solidFill>
                            <a:srgbClr val="141413"/>
                          </a:solidFill>
                          <a:latin typeface="Georgia"/>
                          <a:ea typeface="Georgia"/>
                          <a:cs typeface="Georgia"/>
                        </a:rPr>
                        <a:t>26.85</a:t>
                      </a:r>
                    </a:p>
                  </a:txBody>
                  <a:tcPr>
                    <a:lnL w="9525">
                      <a:solidFill>
                        <a:srgbClr val="E8E6DC"/>
                      </a:solidFill>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725" b="0">
                          <a:solidFill>
                            <a:srgbClr val="141413"/>
                          </a:solidFill>
                          <a:latin typeface="Georgia"/>
                          <a:ea typeface="Georgia"/>
                          <a:cs typeface="Georgia"/>
                        </a:rPr>
                        <a:t>31.75</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725" b="0">
                          <a:solidFill>
                            <a:srgbClr val="141413"/>
                          </a:solidFill>
                          <a:latin typeface="Georgia"/>
                          <a:ea typeface="Georgia"/>
                          <a:cs typeface="Georgia"/>
                        </a:rPr>
                        <a:t>Speaker_A</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extLst>
                  <a:ext uri="{0D108BD9-81ED-4DB2-BD59-A6C34878D82A}">
                    <a16:rowId xmlns:a16="http://schemas.microsoft.com/office/drawing/2014/main" val="10001"/>
                  </a:ext>
                </a:extLst>
              </a:tr>
              <a:tr h="533400">
                <a:tc>
                  <a:txBody>
                    <a:bodyPr/>
                    <a:lstStyle/>
                    <a:p>
                      <a:r>
                        <a:rPr sz="1725" b="0">
                          <a:solidFill>
                            <a:srgbClr val="141413"/>
                          </a:solidFill>
                          <a:latin typeface="Georgia"/>
                          <a:ea typeface="Georgia"/>
                          <a:cs typeface="Georgia"/>
                        </a:rPr>
                        <a:t>31.75</a:t>
                      </a:r>
                    </a:p>
                  </a:txBody>
                  <a:tcPr>
                    <a:lnL w="9525">
                      <a:solidFill>
                        <a:srgbClr val="E8E6DC"/>
                      </a:solidFill>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725" b="0">
                          <a:solidFill>
                            <a:srgbClr val="141413"/>
                          </a:solidFill>
                          <a:latin typeface="Georgia"/>
                          <a:ea typeface="Georgia"/>
                          <a:cs typeface="Georgia"/>
                        </a:rPr>
                        <a:t>33.20</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725" b="0">
                          <a:solidFill>
                            <a:srgbClr val="141413"/>
                          </a:solidFill>
                          <a:latin typeface="Georgia"/>
                          <a:ea typeface="Georgia"/>
                          <a:cs typeface="Georgia"/>
                        </a:rPr>
                        <a:t>Speaker_B</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extLst>
                  <a:ext uri="{0D108BD9-81ED-4DB2-BD59-A6C34878D82A}">
                    <a16:rowId xmlns:a16="http://schemas.microsoft.com/office/drawing/2014/main" val="10002"/>
                  </a:ext>
                </a:extLst>
              </a:tr>
              <a:tr h="533400">
                <a:tc>
                  <a:txBody>
                    <a:bodyPr/>
                    <a:lstStyle/>
                    <a:p>
                      <a:r>
                        <a:rPr sz="1725" b="0">
                          <a:solidFill>
                            <a:srgbClr val="141413"/>
                          </a:solidFill>
                          <a:latin typeface="Georgia"/>
                          <a:ea typeface="Georgia"/>
                          <a:cs typeface="Georgia"/>
                        </a:rPr>
                        <a:t>33.20</a:t>
                      </a:r>
                    </a:p>
                  </a:txBody>
                  <a:tcPr>
                    <a:lnL w="9525">
                      <a:solidFill>
                        <a:srgbClr val="E8E6DC"/>
                      </a:solidFill>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725" b="0">
                          <a:solidFill>
                            <a:srgbClr val="141413"/>
                          </a:solidFill>
                          <a:latin typeface="Georgia"/>
                          <a:ea typeface="Georgia"/>
                          <a:cs typeface="Georgia"/>
                        </a:rPr>
                        <a:t>40.20</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725" b="0">
                          <a:solidFill>
                            <a:srgbClr val="141413"/>
                          </a:solidFill>
                          <a:latin typeface="Georgia"/>
                          <a:ea typeface="Georgia"/>
                          <a:cs typeface="Georgia"/>
                        </a:rPr>
                        <a:t>Speaker_A</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extLst>
                  <a:ext uri="{0D108BD9-81ED-4DB2-BD59-A6C34878D82A}">
                    <a16:rowId xmlns:a16="http://schemas.microsoft.com/office/drawing/2014/main" val="10003"/>
                  </a:ext>
                </a:extLst>
              </a:tr>
            </a:tbl>
          </a:graphicData>
        </a:graphic>
      </p:graphicFrame>
      <p:sp>
        <p:nvSpPr>
          <p:cNvPr id="17" name="Rectangle 16">
            <a:extLst>
              <a:ext uri="{FF2B5EF4-FFF2-40B4-BE49-F238E27FC236}">
                <a16:creationId xmlns:a16="http://schemas.microsoft.com/office/drawing/2014/main" id="{A6E8D5BC-6A49-4CDE-ABD7-2EB74E8DBC78}"/>
              </a:ext>
            </a:extLst>
          </p:cNvPr>
          <p:cNvSpPr>
            <a:spLocks noGrp="1"/>
          </p:cNvSpPr>
          <p:nvPr/>
        </p:nvSpPr>
        <p:spPr>
          <a:xfrm>
            <a:off x="6343650" y="5248275"/>
            <a:ext cx="5143500" cy="495300"/>
          </a:xfrm>
          <a:prstGeom prst="rect">
            <a:avLst/>
          </a:prstGeom>
          <a:noFill/>
          <a:ln w="0">
            <a:noFill/>
          </a:ln>
        </p:spPr>
        <p:txBody>
          <a:bodyPr lIns="0" tIns="0" rIns="0" bIns="0" anchor="t"/>
          <a:lstStyle>
            <a:defPPr>
              <a:defRPr sz="2700" b="1">
                <a:solidFill>
                  <a:srgbClr val="D97757"/>
                </a:solidFill>
                <a:latin typeface="Poppins"/>
                <a:ea typeface="Poppins"/>
                <a:cs typeface="Poppins"/>
              </a:defRPr>
            </a:defPPr>
          </a:lstStyle>
          <a:p>
            <a:pPr>
              <a:defRPr sz="2700" b="1">
                <a:solidFill>
                  <a:srgbClr val="D97757"/>
                </a:solidFill>
                <a:latin typeface="Poppins"/>
                <a:ea typeface="Poppins"/>
                <a:cs typeface="Poppins"/>
              </a:defRPr>
            </a:pPr>
            <a:r>
              <a:rPr sz="2700" b="1">
                <a:solidFill>
                  <a:srgbClr val="D97757"/>
                </a:solidFill>
                <a:latin typeface="Poppins"/>
                <a:ea typeface="Poppins"/>
                <a:cs typeface="Poppins"/>
              </a:rPr>
              <a:t>20.3% DER</a:t>
            </a:r>
          </a:p>
        </p:txBody>
      </p:sp>
      <p:sp>
        <p:nvSpPr>
          <p:cNvPr id="18" name="Rectangle 17">
            <a:extLst>
              <a:ext uri="{FF2B5EF4-FFF2-40B4-BE49-F238E27FC236}">
                <a16:creationId xmlns:a16="http://schemas.microsoft.com/office/drawing/2014/main" id="{F2F4DD35-19F4-48C3-8655-6742B28C3CD2}"/>
              </a:ext>
            </a:extLst>
          </p:cNvPr>
          <p:cNvSpPr>
            <a:spLocks noGrp="1"/>
          </p:cNvSpPr>
          <p:nvPr/>
        </p:nvSpPr>
        <p:spPr>
          <a:xfrm>
            <a:off x="6343650" y="5791200"/>
            <a:ext cx="5238750" cy="552450"/>
          </a:xfrm>
          <a:prstGeom prst="rect">
            <a:avLst/>
          </a:prstGeom>
          <a:noFill/>
          <a:ln w="0">
            <a:noFill/>
          </a:ln>
        </p:spPr>
        <p:txBody>
          <a:bodyPr lIns="0" tIns="0" rIns="0" bIns="0" anchor="t"/>
          <a:lstStyle>
            <a:defPPr>
              <a:defRPr sz="1500" b="0">
                <a:solidFill>
                  <a:srgbClr val="5E5D59"/>
                </a:solidFill>
                <a:latin typeface="Georgia"/>
                <a:ea typeface="Georgia"/>
                <a:cs typeface="Georgia"/>
              </a:defRPr>
            </a:defPPr>
          </a:lstStyle>
          <a:p>
            <a:pPr>
              <a:defRPr sz="1500" b="0">
                <a:solidFill>
                  <a:srgbClr val="5E5D59"/>
                </a:solidFill>
                <a:latin typeface="Georgia"/>
                <a:ea typeface="Georgia"/>
                <a:cs typeface="Georgia"/>
              </a:defRPr>
            </a:pPr>
            <a:r>
              <a:rPr sz="1500" b="0">
                <a:solidFill>
                  <a:srgbClr val="5E5D59"/>
                </a:solidFill>
                <a:latin typeface="Georgia"/>
                <a:ea typeface="Georgia"/>
                <a:cs typeface="Georgia"/>
              </a:rPr>
              <a:t>Spectral clustering, 72 test conversations</a:t>
            </a:r>
          </a:p>
          <a:p>
            <a:pPr>
              <a:defRPr sz="1500" b="0">
                <a:solidFill>
                  <a:srgbClr val="5E5D59"/>
                </a:solidFill>
                <a:latin typeface="Georgia"/>
                <a:ea typeface="Georgia"/>
                <a:cs typeface="Georgia"/>
              </a:defRPr>
            </a:pPr>
            <a:r>
              <a:rPr sz="1500" b="0">
                <a:solidFill>
                  <a:srgbClr val="5E5D59"/>
                </a:solidFill>
                <a:latin typeface="Georgia"/>
                <a:ea typeface="Georgia"/>
                <a:cs typeface="Georgia"/>
              </a:rPr>
              <a:t>GMM: 20.3%   /   pyannote 3.1: 18.4%</a:t>
            </a:r>
          </a:p>
        </p:txBody>
      </p:sp>
      <p:pic>
        <p:nvPicPr>
          <p:cNvPr id="20" name="Play Mixed recording">
            <a:hlinkClick action="ppaction://media"/>
            <a:extLst>
              <a:ext uri="{FF2B5EF4-FFF2-40B4-BE49-F238E27FC236}">
                <a16:creationId xmlns:a16="http://schemas.microsoft.com/office/drawing/2014/main" id="{61103C39-112B-9E7A-A144-F1A2423F3A10}"/>
              </a:ext>
            </a:extLst>
          </p:cNvPr>
          <p:cNvPicPr>
            <a:picLocks noChangeAspect="1"/>
          </p:cNvPicPr>
          <p:nvPr>
            <a:videoFile r:link="rId2"/>
            <p:extLst>
              <p:ext uri="{DAA4B4D4-6D71-4841-9C94-3DE7FCFB9230}">
                <p14:media xmlns:p14="http://schemas.microsoft.com/office/powerpoint/2010/main" r:embed="rId1"/>
              </p:ext>
            </p:extLst>
          </p:nvPr>
        </p:nvPicPr>
        <p:blipFill>
          <a:blip r:embed="rId9"/>
          <a:stretch>
            <a:fillRect/>
          </a:stretch>
        </p:blipFill>
        <p:spPr>
          <a:xfrm>
            <a:off x="609600" y="2809876"/>
            <a:ext cx="3429000" cy="1928813"/>
          </a:xfrm>
          <a:prstGeom prst="rect">
            <a:avLst/>
          </a:prstGeom>
        </p:spPr>
      </p:pic>
      <p:pic>
        <p:nvPicPr>
          <p:cNvPr id="21" name="Play Speaker A">
            <a:hlinkClick action="ppaction://media"/>
            <a:extLst>
              <a:ext uri="{FF2B5EF4-FFF2-40B4-BE49-F238E27FC236}">
                <a16:creationId xmlns:a16="http://schemas.microsoft.com/office/drawing/2014/main" id="{980D1EDC-80FE-E5A8-3DB9-8E6CFC35FC7F}"/>
              </a:ext>
            </a:extLst>
          </p:cNvPr>
          <p:cNvPicPr>
            <a:picLocks noChangeAspect="1"/>
          </p:cNvPicPr>
          <p:nvPr>
            <a:videoFile r:link="rId4"/>
            <p:extLst>
              <p:ext uri="{DAA4B4D4-6D71-4841-9C94-3DE7FCFB9230}">
                <p14:media xmlns:p14="http://schemas.microsoft.com/office/powerpoint/2010/main" r:embed="rId3"/>
              </p:ext>
            </p:extLst>
          </p:nvPr>
        </p:nvPicPr>
        <p:blipFill>
          <a:blip r:embed="rId10"/>
          <a:stretch>
            <a:fillRect/>
          </a:stretch>
        </p:blipFill>
        <p:spPr>
          <a:xfrm>
            <a:off x="609600" y="5229226"/>
            <a:ext cx="2514940" cy="709803"/>
          </a:xfrm>
          <a:prstGeom prst="rect">
            <a:avLst/>
          </a:prstGeom>
        </p:spPr>
      </p:pic>
      <p:pic>
        <p:nvPicPr>
          <p:cNvPr id="22" name="Play Speaker B">
            <a:hlinkClick action="ppaction://media"/>
            <a:extLst>
              <a:ext uri="{FF2B5EF4-FFF2-40B4-BE49-F238E27FC236}">
                <a16:creationId xmlns:a16="http://schemas.microsoft.com/office/drawing/2014/main" id="{E3D2B94B-ADE5-9146-1A3A-063A4B035D92}"/>
              </a:ext>
            </a:extLst>
          </p:cNvPr>
          <p:cNvPicPr>
            <a:picLocks noChangeAspect="1"/>
          </p:cNvPicPr>
          <p:nvPr>
            <a:videoFile r:link="rId6"/>
            <p:extLst>
              <p:ext uri="{DAA4B4D4-6D71-4841-9C94-3DE7FCFB9230}">
                <p14:media xmlns:p14="http://schemas.microsoft.com/office/powerpoint/2010/main" r:embed="rId5"/>
              </p:ext>
            </p:extLst>
          </p:nvPr>
        </p:nvPicPr>
        <p:blipFill>
          <a:blip r:embed="rId11"/>
          <a:stretch>
            <a:fillRect/>
          </a:stretch>
        </p:blipFill>
        <p:spPr>
          <a:xfrm>
            <a:off x="3238500" y="5229226"/>
            <a:ext cx="2514940" cy="709803"/>
          </a:xfrm>
          <a:prstGeom prst="rect">
            <a:avLst/>
          </a:prstGeom>
        </p:spPr>
      </p:pic>
    </p:spTree>
    <p:extLst>
      <p:ext uri="{BB962C8B-B14F-4D97-AF65-F5344CB8AC3E}">
        <p14:creationId xmlns:p14="http://schemas.microsoft.com/office/powerpoint/2010/main" val="119729992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20"/>
                    </p:tgtEl>
                  </p:cond>
                </p:stCondLst>
                <p:endSync evt="end" delay="0">
                  <p:rtn val="all"/>
                </p:endSync>
                <p:childTnLst>
                  <p:par>
                    <p:cTn id="3" fill="hold">
                      <p:stCondLst>
                        <p:cond delay="0"/>
                      </p:stCondLst>
                      <p:childTnLst>
                        <p:par>
                          <p:cTn id="4" fill="hold">
                            <p:stCondLst>
                              <p:cond delay="0"/>
                            </p:stCondLst>
                            <p:childTnLst>
                              <p:par>
                                <p:cTn id="5" presetID="2" presetClass="mediacall" presetSubtype="0" fill="hold" nodeType="clickEffect">
                                  <p:stCondLst>
                                    <p:cond delay="0"/>
                                  </p:stCondLst>
                                  <p:childTnLst>
                                    <p:cmd type="call" cmd="togglePause">
                                      <p:cBhvr>
                                        <p:cTn id="6" dur="1" fill="hold"/>
                                        <p:tgtEl>
                                          <p:spTgt spid="20"/>
                                        </p:tgtEl>
                                      </p:cBhvr>
                                    </p:cmd>
                                  </p:childTnLst>
                                </p:cTn>
                              </p:par>
                            </p:childTnLst>
                          </p:cTn>
                        </p:par>
                      </p:childTnLst>
                    </p:cTn>
                  </p:par>
                </p:childTnLst>
              </p:cTn>
              <p:nextCondLst>
                <p:cond evt="onClick" delay="0">
                  <p:tgtEl>
                    <p:spTgt spid="20"/>
                  </p:tgtEl>
                </p:cond>
              </p:nextCondLst>
            </p:seq>
            <p:video>
              <p:cMediaNode vol="10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1"/>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1"/>
                                        </p:tgtEl>
                                      </p:cBhvr>
                                    </p:cmd>
                                  </p:childTnLst>
                                </p:cTn>
                              </p:par>
                            </p:childTnLst>
                          </p:cTn>
                        </p:par>
                      </p:childTnLst>
                    </p:cTn>
                  </p:par>
                </p:childTnLst>
              </p:cTn>
              <p:nextCondLst>
                <p:cond evt="onClick" delay="0">
                  <p:tgtEl>
                    <p:spTgt spid="21"/>
                  </p:tgtEl>
                </p:cond>
              </p:nextCondLst>
            </p:seq>
            <p:video>
              <p:cMediaNode vol="100000">
                <p:cTn id="13" fill="hold" display="0">
                  <p:stCondLst>
                    <p:cond delay="indefinite"/>
                  </p:stCondLst>
                </p:cTn>
                <p:tgtEl>
                  <p:spTgt spid="21"/>
                </p:tgtEl>
              </p:cMediaNode>
            </p:video>
            <p:seq concurrent="1" nextAc="seek">
              <p:cTn id="14" restart="whenNotActive" fill="hold" evtFilter="cancelBubble" nodeType="interactiveSeq">
                <p:stCondLst>
                  <p:cond evt="onClick" delay="0">
                    <p:tgtEl>
                      <p:spTgt spid="22"/>
                    </p:tgtEl>
                  </p:cond>
                </p:stCondLst>
                <p:endSync evt="end" delay="0">
                  <p:rtn val="all"/>
                </p:endSync>
                <p:childTnLst>
                  <p:par>
                    <p:cTn id="15" fill="hold">
                      <p:stCondLst>
                        <p:cond delay="0"/>
                      </p:stCondLst>
                      <p:childTnLst>
                        <p:par>
                          <p:cTn id="16" fill="hold">
                            <p:stCondLst>
                              <p:cond delay="0"/>
                            </p:stCondLst>
                            <p:childTnLst>
                              <p:par>
                                <p:cTn id="17" presetID="2" presetClass="mediacall" presetSubtype="0" fill="hold" nodeType="clickEffect">
                                  <p:stCondLst>
                                    <p:cond delay="0"/>
                                  </p:stCondLst>
                                  <p:childTnLst>
                                    <p:cmd type="call" cmd="togglePause">
                                      <p:cBhvr>
                                        <p:cTn id="18" dur="1" fill="hold"/>
                                        <p:tgtEl>
                                          <p:spTgt spid="22"/>
                                        </p:tgtEl>
                                      </p:cBhvr>
                                    </p:cmd>
                                  </p:childTnLst>
                                </p:cTn>
                              </p:par>
                            </p:childTnLst>
                          </p:cTn>
                        </p:par>
                      </p:childTnLst>
                    </p:cTn>
                  </p:par>
                </p:childTnLst>
              </p:cTn>
              <p:nextCondLst>
                <p:cond evt="onClick" delay="0">
                  <p:tgtEl>
                    <p:spTgt spid="22"/>
                  </p:tgtEl>
                </p:cond>
              </p:nextCondLst>
            </p:seq>
            <p:video>
              <p:cMediaNode vol="100000">
                <p:cTn id="19" fill="hold" display="0">
                  <p:stCondLst>
                    <p:cond delay="indefinite"/>
                  </p:stCondLst>
                </p:cTn>
                <p:tgtEl>
                  <p:spTgt spid="22"/>
                </p:tgtEl>
              </p:cMediaNode>
            </p:vide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AA62083B-E921-42AC-974F-0D6DBC7B2D87}"/>
              </a:ext>
            </a:extLst>
          </p:cNvPr>
          <p:cNvSpPr>
            <a:spLocks noGrp="1"/>
          </p:cNvSpPr>
          <p:nvPr/>
        </p:nvSpPr>
        <p:spPr>
          <a:xfrm>
            <a:off x="609600" y="314325"/>
            <a:ext cx="8572500" cy="209550"/>
          </a:xfrm>
          <a:prstGeom prst="rect">
            <a:avLst/>
          </a:prstGeom>
          <a:noFill/>
          <a:ln w="0">
            <a:noFill/>
          </a:ln>
        </p:spPr>
        <p:txBody>
          <a:bodyPr lIns="0" tIns="0" rIns="0" bIns="0" anchor="t"/>
          <a:lstStyle>
            <a:defPPr>
              <a:defRPr sz="1125" b="0">
                <a:solidFill>
                  <a:srgbClr val="5E5D59"/>
                </a:solidFill>
                <a:latin typeface="Poppins"/>
                <a:ea typeface="Poppins"/>
                <a:cs typeface="Poppins"/>
              </a:defRPr>
            </a:defPPr>
          </a:lstStyle>
          <a:p>
            <a:pPr>
              <a:defRPr sz="1125" b="0">
                <a:solidFill>
                  <a:srgbClr val="5E5D59"/>
                </a:solidFill>
                <a:latin typeface="Poppins"/>
                <a:ea typeface="Poppins"/>
                <a:cs typeface="Poppins"/>
              </a:defRPr>
            </a:pPr>
            <a:r>
              <a:rPr sz="1125" b="0">
                <a:solidFill>
                  <a:srgbClr val="5E5D59"/>
                </a:solidFill>
                <a:latin typeface="Poppins"/>
                <a:ea typeface="Poppins"/>
                <a:cs typeface="Poppins"/>
              </a:rPr>
              <a:t>TEAM vismAI / CS F407</a:t>
            </a:r>
          </a:p>
        </p:txBody>
      </p:sp>
      <p:sp>
        <p:nvSpPr>
          <p:cNvPr id="2" name="Rectangle 1">
            <a:extLst>
              <a:ext uri="{FF2B5EF4-FFF2-40B4-BE49-F238E27FC236}">
                <a16:creationId xmlns:a16="http://schemas.microsoft.com/office/drawing/2014/main" id="{C34B8659-01E7-4E60-919E-C88B2A46D880}"/>
              </a:ext>
            </a:extLst>
          </p:cNvPr>
          <p:cNvSpPr>
            <a:spLocks noGrp="1"/>
          </p:cNvSpPr>
          <p:nvPr/>
        </p:nvSpPr>
        <p:spPr>
          <a:xfrm>
            <a:off x="609600" y="695325"/>
            <a:ext cx="10972800" cy="619125"/>
          </a:xfrm>
          <a:prstGeom prst="rect">
            <a:avLst/>
          </a:prstGeom>
          <a:noFill/>
          <a:ln w="0">
            <a:noFill/>
          </a:ln>
        </p:spPr>
        <p:txBody>
          <a:bodyPr lIns="0" tIns="0" rIns="0" bIns="0" anchor="t"/>
          <a:lstStyle>
            <a:defPPr>
              <a:defRPr sz="3000" b="1">
                <a:solidFill>
                  <a:srgbClr val="141413"/>
                </a:solidFill>
                <a:latin typeface="Poppins"/>
                <a:ea typeface="Poppins"/>
                <a:cs typeface="Poppins"/>
              </a:defRPr>
            </a:defPPr>
          </a:lstStyle>
          <a:p>
            <a:pPr>
              <a:defRPr sz="3000" b="1">
                <a:solidFill>
                  <a:srgbClr val="141413"/>
                </a:solidFill>
                <a:latin typeface="Poppins"/>
                <a:ea typeface="Poppins"/>
                <a:cs typeface="Poppins"/>
              </a:defRPr>
            </a:pPr>
            <a:r>
              <a:rPr sz="3000" b="1">
                <a:solidFill>
                  <a:srgbClr val="141413"/>
                </a:solidFill>
                <a:latin typeface="Poppins"/>
                <a:ea typeface="Poppins"/>
                <a:cs typeface="Poppins"/>
              </a:rPr>
              <a:t>What the system actually transcribes</a:t>
            </a:r>
          </a:p>
        </p:txBody>
      </p:sp>
      <p:sp>
        <p:nvSpPr>
          <p:cNvPr id="3" name="Rectangle 2">
            <a:extLst>
              <a:ext uri="{FF2B5EF4-FFF2-40B4-BE49-F238E27FC236}">
                <a16:creationId xmlns:a16="http://schemas.microsoft.com/office/drawing/2014/main" id="{8BF9B1FC-B44B-4064-8FC5-7C88036A8B00}"/>
              </a:ext>
            </a:extLst>
          </p:cNvPr>
          <p:cNvSpPr>
            <a:spLocks noGrp="1"/>
          </p:cNvSpPr>
          <p:nvPr/>
        </p:nvSpPr>
        <p:spPr>
          <a:xfrm>
            <a:off x="609600" y="1362075"/>
            <a:ext cx="10972800" cy="552450"/>
          </a:xfrm>
          <a:prstGeom prst="rect">
            <a:avLst/>
          </a:prstGeom>
          <a:noFill/>
          <a:ln w="0">
            <a:noFill/>
          </a:ln>
        </p:spPr>
        <p:txBody>
          <a:bodyPr lIns="0" tIns="0" rIns="0" bIns="0" anchor="t"/>
          <a:lstStyle>
            <a:defPPr>
              <a:defRPr sz="1575" b="0">
                <a:solidFill>
                  <a:srgbClr val="5E5D59"/>
                </a:solidFill>
                <a:latin typeface="Georgia"/>
                <a:ea typeface="Georgia"/>
                <a:cs typeface="Georgia"/>
              </a:defRPr>
            </a:defPPr>
          </a:lstStyle>
          <a:p>
            <a:pPr>
              <a:defRPr sz="1575" b="0">
                <a:solidFill>
                  <a:srgbClr val="5E5D59"/>
                </a:solidFill>
                <a:latin typeface="Georgia"/>
                <a:ea typeface="Georgia"/>
                <a:cs typeface="Georgia"/>
              </a:defRPr>
            </a:pPr>
            <a:r>
              <a:rPr sz="1575" b="0">
                <a:solidFill>
                  <a:srgbClr val="5E5D59"/>
                </a:solidFill>
                <a:latin typeface="Georgia"/>
                <a:ea typeface="Georgia"/>
                <a:cs typeface="Georgia"/>
              </a:rPr>
              <a:t>M3 / Abhinav     IndicConformer speech recognition, Hinglish text and subtitle files</a:t>
            </a:r>
          </a:p>
        </p:txBody>
      </p:sp>
      <p:sp>
        <p:nvSpPr>
          <p:cNvPr id="4" name="Rectangle 3">
            <a:extLst>
              <a:ext uri="{FF2B5EF4-FFF2-40B4-BE49-F238E27FC236}">
                <a16:creationId xmlns:a16="http://schemas.microsoft.com/office/drawing/2014/main" id="{82A92B46-EB49-4D12-876E-94F86FD7C8D8}"/>
              </a:ext>
            </a:extLst>
          </p:cNvPr>
          <p:cNvSpPr>
            <a:spLocks noGrp="1"/>
          </p:cNvSpPr>
          <p:nvPr/>
        </p:nvSpPr>
        <p:spPr>
          <a:xfrm>
            <a:off x="609600" y="6486525"/>
            <a:ext cx="10972800" cy="209550"/>
          </a:xfrm>
          <a:prstGeom prst="rect">
            <a:avLst/>
          </a:prstGeom>
          <a:noFill/>
          <a:ln w="0">
            <a:noFill/>
          </a:ln>
        </p:spPr>
        <p:txBody>
          <a:bodyPr lIns="0" tIns="0" rIns="0" bIns="0" anchor="t"/>
          <a:lstStyle>
            <a:defPPr>
              <a:defRPr sz="1050" b="0">
                <a:solidFill>
                  <a:srgbClr val="5E5D59"/>
                </a:solidFill>
                <a:latin typeface="Poppins"/>
                <a:ea typeface="Poppins"/>
                <a:cs typeface="Poppins"/>
              </a:defRPr>
            </a:defPPr>
          </a:lstStyle>
          <a:p>
            <a:pPr>
              <a:defRPr sz="1050" b="0">
                <a:solidFill>
                  <a:srgbClr val="5E5D59"/>
                </a:solidFill>
                <a:latin typeface="Poppins"/>
                <a:ea typeface="Poppins"/>
                <a:cs typeface="Poppins"/>
              </a:defRPr>
            </a:pPr>
            <a:r>
              <a:rPr sz="1050" b="0">
                <a:solidFill>
                  <a:srgbClr val="5E5D59"/>
                </a:solidFill>
                <a:latin typeface="Poppins"/>
                <a:ea typeface="Poppins"/>
                <a:cs typeface="Poppins"/>
              </a:rPr>
              <a:t>whospoke     2 / 3</a:t>
            </a:r>
          </a:p>
        </p:txBody>
      </p:sp>
      <p:sp>
        <p:nvSpPr>
          <p:cNvPr id="5" name="Rectangle 4">
            <a:extLst>
              <a:ext uri="{FF2B5EF4-FFF2-40B4-BE49-F238E27FC236}">
                <a16:creationId xmlns:a16="http://schemas.microsoft.com/office/drawing/2014/main" id="{91D7E2E4-E4F3-4A99-A16E-3D135FFC4BDC}"/>
              </a:ext>
            </a:extLst>
          </p:cNvPr>
          <p:cNvSpPr>
            <a:spLocks noGrp="1"/>
          </p:cNvSpPr>
          <p:nvPr/>
        </p:nvSpPr>
        <p:spPr>
          <a:xfrm>
            <a:off x="609600" y="2076450"/>
            <a:ext cx="6858000" cy="266700"/>
          </a:xfrm>
          <a:prstGeom prst="rect">
            <a:avLst/>
          </a:prstGeom>
          <a:noFill/>
          <a:ln w="0">
            <a:noFill/>
          </a:ln>
        </p:spPr>
        <p:txBody>
          <a:bodyPr lIns="0" tIns="0" rIns="0" bIns="0" anchor="t"/>
          <a:lstStyle>
            <a:defPPr>
              <a:defRPr sz="1275" b="0">
                <a:solidFill>
                  <a:srgbClr val="5E5D59"/>
                </a:solidFill>
                <a:latin typeface="Poppins"/>
                <a:ea typeface="Poppins"/>
                <a:cs typeface="Poppins"/>
              </a:defRPr>
            </a:defPPr>
          </a:lstStyle>
          <a:p>
            <a:pPr>
              <a:defRPr sz="1275" b="0">
                <a:solidFill>
                  <a:srgbClr val="5E5D59"/>
                </a:solidFill>
                <a:latin typeface="Poppins"/>
                <a:ea typeface="Poppins"/>
                <a:cs typeface="Poppins"/>
              </a:defRPr>
            </a:pPr>
            <a:r>
              <a:rPr sz="1275" b="0">
                <a:solidFill>
                  <a:srgbClr val="5E5D59"/>
                </a:solidFill>
                <a:latin typeface="Poppins"/>
                <a:ea typeface="Poppins"/>
                <a:cs typeface="Poppins"/>
              </a:rPr>
              <a:t>SAVED HINGLISH TRANSCRIPT</a:t>
            </a:r>
          </a:p>
        </p:txBody>
      </p:sp>
      <p:sp>
        <p:nvSpPr>
          <p:cNvPr id="6" name="Rectangle 5">
            <a:extLst>
              <a:ext uri="{FF2B5EF4-FFF2-40B4-BE49-F238E27FC236}">
                <a16:creationId xmlns:a16="http://schemas.microsoft.com/office/drawing/2014/main" id="{CA7666D1-8789-43C7-93FF-B2BBED97F47B}"/>
              </a:ext>
            </a:extLst>
          </p:cNvPr>
          <p:cNvSpPr>
            <a:spLocks noGrp="1"/>
          </p:cNvSpPr>
          <p:nvPr/>
        </p:nvSpPr>
        <p:spPr>
          <a:xfrm>
            <a:off x="609600" y="2524125"/>
            <a:ext cx="6572250" cy="266700"/>
          </a:xfrm>
          <a:prstGeom prst="rect">
            <a:avLst/>
          </a:prstGeom>
          <a:noFill/>
          <a:ln w="0">
            <a:noFill/>
          </a:ln>
        </p:spPr>
        <p:txBody>
          <a:bodyPr lIns="0" tIns="0" rIns="0" bIns="0" anchor="t"/>
          <a:lstStyle>
            <a:defPPr>
              <a:defRPr sz="1500" b="1">
                <a:solidFill>
                  <a:srgbClr val="D97757"/>
                </a:solidFill>
                <a:latin typeface="Poppins"/>
                <a:ea typeface="Poppins"/>
                <a:cs typeface="Poppins"/>
              </a:defRPr>
            </a:defPPr>
          </a:lstStyle>
          <a:p>
            <a:pPr>
              <a:defRPr sz="1500" b="1">
                <a:solidFill>
                  <a:srgbClr val="D97757"/>
                </a:solidFill>
                <a:latin typeface="Poppins"/>
                <a:ea typeface="Poppins"/>
                <a:cs typeface="Poppins"/>
              </a:defRPr>
            </a:pPr>
            <a:r>
              <a:rPr sz="1500" b="1">
                <a:solidFill>
                  <a:srgbClr val="D97757"/>
                </a:solidFill>
                <a:latin typeface="Poppins"/>
                <a:ea typeface="Poppins"/>
                <a:cs typeface="Poppins"/>
              </a:rPr>
              <a:t>00:27–00:32   Speaker_A</a:t>
            </a:r>
          </a:p>
        </p:txBody>
      </p:sp>
      <p:sp>
        <p:nvSpPr>
          <p:cNvPr id="7" name="Rectangle 6">
            <a:extLst>
              <a:ext uri="{FF2B5EF4-FFF2-40B4-BE49-F238E27FC236}">
                <a16:creationId xmlns:a16="http://schemas.microsoft.com/office/drawing/2014/main" id="{80616338-DD43-41A1-BBC8-C9CE80C0099C}"/>
              </a:ext>
            </a:extLst>
          </p:cNvPr>
          <p:cNvSpPr>
            <a:spLocks noGrp="1"/>
          </p:cNvSpPr>
          <p:nvPr/>
        </p:nvSpPr>
        <p:spPr>
          <a:xfrm>
            <a:off x="609600" y="2867025"/>
            <a:ext cx="6477000" cy="762000"/>
          </a:xfrm>
          <a:prstGeom prst="rect">
            <a:avLst/>
          </a:prstGeom>
          <a:noFill/>
          <a:ln w="0">
            <a:noFill/>
          </a:ln>
        </p:spPr>
        <p:txBody>
          <a:bodyPr lIns="0" tIns="0" rIns="0" bIns="0" anchor="t"/>
          <a:lstStyle>
            <a:defPPr>
              <a:defRPr sz="1800" b="0">
                <a:solidFill>
                  <a:srgbClr val="141413"/>
                </a:solidFill>
                <a:latin typeface="Georgia"/>
                <a:ea typeface="Georgia"/>
                <a:cs typeface="Georgia"/>
              </a:defRPr>
            </a:defPPr>
          </a:lstStyle>
          <a:p>
            <a:pPr>
              <a:defRPr sz="1800" b="0">
                <a:solidFill>
                  <a:srgbClr val="141413"/>
                </a:solidFill>
                <a:latin typeface="Georgia"/>
                <a:ea typeface="Georgia"/>
                <a:cs typeface="Georgia"/>
              </a:defRPr>
            </a:pPr>
            <a:r>
              <a:rPr sz="1800" b="0">
                <a:solidFill>
                  <a:srgbClr val="141413"/>
                </a:solidFill>
                <a:latin typeface="Georgia"/>
                <a:ea typeface="Georgia"/>
                <a:cs typeface="Georgia"/>
              </a:rPr>
              <a:t>sir mere koi galti hui mere haath se wo mera aai D card gum ho gaya hai sir</a:t>
            </a:r>
          </a:p>
        </p:txBody>
      </p:sp>
      <p:sp>
        <p:nvSpPr>
          <p:cNvPr id="8" name="Rectangle 7">
            <a:extLst>
              <a:ext uri="{FF2B5EF4-FFF2-40B4-BE49-F238E27FC236}">
                <a16:creationId xmlns:a16="http://schemas.microsoft.com/office/drawing/2014/main" id="{E5BAB45C-9B87-4517-B208-73313566EF72}"/>
              </a:ext>
            </a:extLst>
          </p:cNvPr>
          <p:cNvSpPr>
            <a:spLocks noGrp="1"/>
          </p:cNvSpPr>
          <p:nvPr/>
        </p:nvSpPr>
        <p:spPr>
          <a:xfrm>
            <a:off x="609600" y="3676650"/>
            <a:ext cx="6572250" cy="266700"/>
          </a:xfrm>
          <a:prstGeom prst="rect">
            <a:avLst/>
          </a:prstGeom>
          <a:noFill/>
          <a:ln w="0">
            <a:noFill/>
          </a:ln>
        </p:spPr>
        <p:txBody>
          <a:bodyPr lIns="0" tIns="0" rIns="0" bIns="0" anchor="t"/>
          <a:lstStyle>
            <a:defPPr>
              <a:defRPr sz="1500" b="1">
                <a:solidFill>
                  <a:srgbClr val="6A9BCC"/>
                </a:solidFill>
                <a:latin typeface="Poppins"/>
                <a:ea typeface="Poppins"/>
                <a:cs typeface="Poppins"/>
              </a:defRPr>
            </a:defPPr>
          </a:lstStyle>
          <a:p>
            <a:pPr>
              <a:defRPr sz="1500" b="1">
                <a:solidFill>
                  <a:srgbClr val="6A9BCC"/>
                </a:solidFill>
                <a:latin typeface="Poppins"/>
                <a:ea typeface="Poppins"/>
                <a:cs typeface="Poppins"/>
              </a:defRPr>
            </a:pPr>
            <a:r>
              <a:rPr sz="1500" b="1">
                <a:solidFill>
                  <a:srgbClr val="6A9BCC"/>
                </a:solidFill>
                <a:latin typeface="Poppins"/>
                <a:ea typeface="Poppins"/>
                <a:cs typeface="Poppins"/>
              </a:rPr>
              <a:t>00:32–00:33   Speaker_B</a:t>
            </a:r>
          </a:p>
        </p:txBody>
      </p:sp>
      <p:sp>
        <p:nvSpPr>
          <p:cNvPr id="9" name="Rectangle 8">
            <a:extLst>
              <a:ext uri="{FF2B5EF4-FFF2-40B4-BE49-F238E27FC236}">
                <a16:creationId xmlns:a16="http://schemas.microsoft.com/office/drawing/2014/main" id="{67E177F1-E099-4A54-BF39-4416AC4C6ADC}"/>
              </a:ext>
            </a:extLst>
          </p:cNvPr>
          <p:cNvSpPr>
            <a:spLocks noGrp="1"/>
          </p:cNvSpPr>
          <p:nvPr/>
        </p:nvSpPr>
        <p:spPr>
          <a:xfrm>
            <a:off x="609600" y="4019550"/>
            <a:ext cx="6477000" cy="762000"/>
          </a:xfrm>
          <a:prstGeom prst="rect">
            <a:avLst/>
          </a:prstGeom>
          <a:noFill/>
          <a:ln w="0">
            <a:noFill/>
          </a:ln>
        </p:spPr>
        <p:txBody>
          <a:bodyPr lIns="0" tIns="0" rIns="0" bIns="0" anchor="t"/>
          <a:lstStyle>
            <a:defPPr>
              <a:defRPr sz="1800" b="0">
                <a:solidFill>
                  <a:srgbClr val="141413"/>
                </a:solidFill>
                <a:latin typeface="Georgia"/>
                <a:ea typeface="Georgia"/>
                <a:cs typeface="Georgia"/>
              </a:defRPr>
            </a:defPPr>
          </a:lstStyle>
          <a:p>
            <a:pPr>
              <a:defRPr sz="1800" b="0">
                <a:solidFill>
                  <a:srgbClr val="141413"/>
                </a:solidFill>
                <a:latin typeface="Georgia"/>
                <a:ea typeface="Georgia"/>
                <a:cs typeface="Georgia"/>
              </a:defRPr>
            </a:pPr>
            <a:r>
              <a:rPr sz="1800" b="0">
                <a:solidFill>
                  <a:srgbClr val="141413"/>
                </a:solidFill>
                <a:latin typeface="Georgia"/>
                <a:ea typeface="Georgia"/>
                <a:cs typeface="Georgia"/>
              </a:rPr>
              <a:t>haan aur baki sun</a:t>
            </a:r>
          </a:p>
        </p:txBody>
      </p:sp>
      <p:sp>
        <p:nvSpPr>
          <p:cNvPr id="10" name="Rectangle 9">
            <a:extLst>
              <a:ext uri="{FF2B5EF4-FFF2-40B4-BE49-F238E27FC236}">
                <a16:creationId xmlns:a16="http://schemas.microsoft.com/office/drawing/2014/main" id="{87B92248-5378-44A0-8A62-5D4E094F831D}"/>
              </a:ext>
            </a:extLst>
          </p:cNvPr>
          <p:cNvSpPr>
            <a:spLocks noGrp="1"/>
          </p:cNvSpPr>
          <p:nvPr/>
        </p:nvSpPr>
        <p:spPr>
          <a:xfrm>
            <a:off x="609600" y="4829175"/>
            <a:ext cx="6572250" cy="266700"/>
          </a:xfrm>
          <a:prstGeom prst="rect">
            <a:avLst/>
          </a:prstGeom>
          <a:noFill/>
          <a:ln w="0">
            <a:noFill/>
          </a:ln>
        </p:spPr>
        <p:txBody>
          <a:bodyPr lIns="0" tIns="0" rIns="0" bIns="0" anchor="t"/>
          <a:lstStyle>
            <a:defPPr>
              <a:defRPr sz="1500" b="1">
                <a:solidFill>
                  <a:srgbClr val="D97757"/>
                </a:solidFill>
                <a:latin typeface="Poppins"/>
                <a:ea typeface="Poppins"/>
                <a:cs typeface="Poppins"/>
              </a:defRPr>
            </a:defPPr>
          </a:lstStyle>
          <a:p>
            <a:pPr>
              <a:defRPr sz="1500" b="1">
                <a:solidFill>
                  <a:srgbClr val="D97757"/>
                </a:solidFill>
                <a:latin typeface="Poppins"/>
                <a:ea typeface="Poppins"/>
                <a:cs typeface="Poppins"/>
              </a:defRPr>
            </a:pPr>
            <a:r>
              <a:rPr sz="1500" b="1">
                <a:solidFill>
                  <a:srgbClr val="D97757"/>
                </a:solidFill>
                <a:latin typeface="Poppins"/>
                <a:ea typeface="Poppins"/>
                <a:cs typeface="Poppins"/>
              </a:rPr>
              <a:t>00:51–00:54   Speaker_A</a:t>
            </a:r>
          </a:p>
        </p:txBody>
      </p:sp>
      <p:sp>
        <p:nvSpPr>
          <p:cNvPr id="11" name="Rectangle 10">
            <a:extLst>
              <a:ext uri="{FF2B5EF4-FFF2-40B4-BE49-F238E27FC236}">
                <a16:creationId xmlns:a16="http://schemas.microsoft.com/office/drawing/2014/main" id="{034F020E-4A69-4606-BC5B-502BF90B70EF}"/>
              </a:ext>
            </a:extLst>
          </p:cNvPr>
          <p:cNvSpPr>
            <a:spLocks noGrp="1"/>
          </p:cNvSpPr>
          <p:nvPr/>
        </p:nvSpPr>
        <p:spPr>
          <a:xfrm>
            <a:off x="609600" y="5172075"/>
            <a:ext cx="6477000" cy="762000"/>
          </a:xfrm>
          <a:prstGeom prst="rect">
            <a:avLst/>
          </a:prstGeom>
          <a:noFill/>
          <a:ln w="0">
            <a:noFill/>
          </a:ln>
        </p:spPr>
        <p:txBody>
          <a:bodyPr lIns="0" tIns="0" rIns="0" bIns="0" anchor="t"/>
          <a:lstStyle>
            <a:defPPr>
              <a:defRPr sz="1800" b="0">
                <a:solidFill>
                  <a:srgbClr val="141413"/>
                </a:solidFill>
                <a:latin typeface="Georgia"/>
                <a:ea typeface="Georgia"/>
                <a:cs typeface="Georgia"/>
              </a:defRPr>
            </a:defPPr>
          </a:lstStyle>
          <a:p>
            <a:pPr>
              <a:defRPr sz="1800" b="0">
                <a:solidFill>
                  <a:srgbClr val="141413"/>
                </a:solidFill>
                <a:latin typeface="Georgia"/>
                <a:ea typeface="Georgia"/>
                <a:cs typeface="Georgia"/>
              </a:defRPr>
            </a:pPr>
            <a:r>
              <a:rPr sz="1800" b="0">
                <a:solidFill>
                  <a:srgbClr val="141413"/>
                </a:solidFill>
                <a:latin typeface="Georgia"/>
                <a:ea typeface="Georgia"/>
                <a:cs typeface="Georgia"/>
              </a:rPr>
              <a:t>to ab kab tak kitne baje tak office khula hai sir apna</a:t>
            </a:r>
          </a:p>
        </p:txBody>
      </p:sp>
      <p:sp>
        <p:nvSpPr>
          <p:cNvPr id="12" name="Rectangle 11">
            <a:extLst>
              <a:ext uri="{FF2B5EF4-FFF2-40B4-BE49-F238E27FC236}">
                <a16:creationId xmlns:a16="http://schemas.microsoft.com/office/drawing/2014/main" id="{356B99EE-990A-45FC-A7D5-6B61C9F2E3B9}"/>
              </a:ext>
            </a:extLst>
          </p:cNvPr>
          <p:cNvSpPr>
            <a:spLocks noGrp="1"/>
          </p:cNvSpPr>
          <p:nvPr/>
        </p:nvSpPr>
        <p:spPr>
          <a:xfrm>
            <a:off x="609600" y="6115050"/>
            <a:ext cx="6762750" cy="285750"/>
          </a:xfrm>
          <a:prstGeom prst="rect">
            <a:avLst/>
          </a:prstGeom>
          <a:noFill/>
          <a:ln w="0">
            <a:noFill/>
          </a:ln>
        </p:spPr>
        <p:txBody>
          <a:bodyPr lIns="0" tIns="0" rIns="0" bIns="0" anchor="t"/>
          <a:lstStyle>
            <a:defPPr>
              <a:defRPr sz="1500" b="0">
                <a:solidFill>
                  <a:srgbClr val="5E5D59"/>
                </a:solidFill>
                <a:latin typeface="Poppins"/>
                <a:ea typeface="Poppins"/>
                <a:cs typeface="Poppins"/>
              </a:defRPr>
            </a:defPPr>
          </a:lstStyle>
          <a:p>
            <a:pPr>
              <a:defRPr sz="1500" b="0">
                <a:solidFill>
                  <a:srgbClr val="5E5D59"/>
                </a:solidFill>
                <a:latin typeface="Poppins"/>
                <a:ea typeface="Poppins"/>
                <a:cs typeface="Poppins"/>
              </a:defRPr>
            </a:pPr>
            <a:r>
              <a:rPr sz="1500" b="0">
                <a:solidFill>
                  <a:srgbClr val="5E5D59"/>
                </a:solidFill>
                <a:latin typeface="Poppins"/>
                <a:ea typeface="Poppins"/>
                <a:cs typeface="Poppins"/>
              </a:rPr>
              <a:t>Devanagari + Hinglish + SRT + JSON</a:t>
            </a:r>
          </a:p>
        </p:txBody>
      </p:sp>
      <p:sp>
        <p:nvSpPr>
          <p:cNvPr id="13" name="Rectangle 12">
            <a:extLst>
              <a:ext uri="{FF2B5EF4-FFF2-40B4-BE49-F238E27FC236}">
                <a16:creationId xmlns:a16="http://schemas.microsoft.com/office/drawing/2014/main" id="{450A3E45-03D8-430F-841A-FA4B43426569}"/>
              </a:ext>
            </a:extLst>
          </p:cNvPr>
          <p:cNvSpPr>
            <a:spLocks noGrp="1"/>
          </p:cNvSpPr>
          <p:nvPr/>
        </p:nvSpPr>
        <p:spPr>
          <a:xfrm>
            <a:off x="7753350" y="2076450"/>
            <a:ext cx="3829050" cy="457200"/>
          </a:xfrm>
          <a:prstGeom prst="rect">
            <a:avLst/>
          </a:prstGeom>
          <a:noFill/>
          <a:ln w="0">
            <a:noFill/>
          </a:ln>
        </p:spPr>
        <p:txBody>
          <a:bodyPr lIns="0" tIns="0" rIns="0" bIns="0" anchor="t"/>
          <a:lstStyle>
            <a:defPPr>
              <a:defRPr sz="2325" b="1">
                <a:solidFill>
                  <a:srgbClr val="D97757"/>
                </a:solidFill>
                <a:latin typeface="Poppins"/>
                <a:ea typeface="Poppins"/>
                <a:cs typeface="Poppins"/>
              </a:defRPr>
            </a:defPPr>
          </a:lstStyle>
          <a:p>
            <a:pPr>
              <a:defRPr sz="2325" b="1">
                <a:solidFill>
                  <a:srgbClr val="D97757"/>
                </a:solidFill>
                <a:latin typeface="Poppins"/>
                <a:ea typeface="Poppins"/>
                <a:cs typeface="Poppins"/>
              </a:defRPr>
            </a:pPr>
            <a:r>
              <a:rPr sz="2325" b="1">
                <a:solidFill>
                  <a:srgbClr val="D97757"/>
                </a:solidFill>
                <a:latin typeface="Poppins"/>
                <a:ea typeface="Poppins"/>
                <a:cs typeface="Poppins"/>
              </a:rPr>
              <a:t>21.0% word error</a:t>
            </a:r>
          </a:p>
        </p:txBody>
      </p:sp>
      <p:sp>
        <p:nvSpPr>
          <p:cNvPr id="14" name="Rectangle 13">
            <a:extLst>
              <a:ext uri="{FF2B5EF4-FFF2-40B4-BE49-F238E27FC236}">
                <a16:creationId xmlns:a16="http://schemas.microsoft.com/office/drawing/2014/main" id="{F9990930-7622-4FBC-8A51-A185596D886A}"/>
              </a:ext>
            </a:extLst>
          </p:cNvPr>
          <p:cNvSpPr>
            <a:spLocks noGrp="1"/>
          </p:cNvSpPr>
          <p:nvPr/>
        </p:nvSpPr>
        <p:spPr>
          <a:xfrm>
            <a:off x="7753350" y="2619375"/>
            <a:ext cx="3829050" cy="619125"/>
          </a:xfrm>
          <a:prstGeom prst="rect">
            <a:avLst/>
          </a:prstGeom>
          <a:noFill/>
          <a:ln w="0">
            <a:noFill/>
          </a:ln>
        </p:spPr>
        <p:txBody>
          <a:bodyPr lIns="0" tIns="0" rIns="0" bIns="0" anchor="t"/>
          <a:lstStyle>
            <a:defPPr>
              <a:defRPr sz="1500" b="0">
                <a:solidFill>
                  <a:srgbClr val="5E5D59"/>
                </a:solidFill>
                <a:latin typeface="Georgia"/>
                <a:ea typeface="Georgia"/>
                <a:cs typeface="Georgia"/>
              </a:defRPr>
            </a:defPPr>
          </a:lstStyle>
          <a:p>
            <a:pPr>
              <a:defRPr sz="1500" b="0">
                <a:solidFill>
                  <a:srgbClr val="5E5D59"/>
                </a:solidFill>
                <a:latin typeface="Georgia"/>
                <a:ea typeface="Georgia"/>
                <a:cs typeface="Georgia"/>
              </a:defRPr>
            </a:pPr>
            <a:r>
              <a:rPr sz="1500" b="0">
                <a:solidFill>
                  <a:srgbClr val="5E5D59"/>
                </a:solidFill>
                <a:latin typeface="Georgia"/>
                <a:ea typeface="Georgia"/>
                <a:cs typeface="Georgia"/>
              </a:rPr>
              <a:t>IndicWav2Vec: 38.0%</a:t>
            </a:r>
          </a:p>
          <a:p>
            <a:pPr>
              <a:defRPr sz="1500" b="0">
                <a:solidFill>
                  <a:srgbClr val="5E5D59"/>
                </a:solidFill>
                <a:latin typeface="Georgia"/>
                <a:ea typeface="Georgia"/>
                <a:cs typeface="Georgia"/>
              </a:defRPr>
            </a:pPr>
            <a:r>
              <a:rPr sz="1500" b="0">
                <a:solidFill>
                  <a:srgbClr val="5E5D59"/>
                </a:solidFill>
                <a:latin typeface="Georgia"/>
                <a:ea typeface="Georgia"/>
                <a:cs typeface="Georgia"/>
              </a:rPr>
              <a:t>400 Vaani clips, single-speaker ASR</a:t>
            </a:r>
          </a:p>
        </p:txBody>
      </p:sp>
      <p:sp>
        <p:nvSpPr>
          <p:cNvPr id="15" name="Rectangle 14">
            <a:extLst>
              <a:ext uri="{FF2B5EF4-FFF2-40B4-BE49-F238E27FC236}">
                <a16:creationId xmlns:a16="http://schemas.microsoft.com/office/drawing/2014/main" id="{FF1FA3DA-FD23-4212-8799-8A42F66B9B64}"/>
              </a:ext>
            </a:extLst>
          </p:cNvPr>
          <p:cNvSpPr>
            <a:spLocks noGrp="1"/>
          </p:cNvSpPr>
          <p:nvPr/>
        </p:nvSpPr>
        <p:spPr>
          <a:xfrm>
            <a:off x="7753350" y="3476625"/>
            <a:ext cx="3829050" cy="266700"/>
          </a:xfrm>
          <a:prstGeom prst="rect">
            <a:avLst/>
          </a:prstGeom>
          <a:noFill/>
          <a:ln w="0">
            <a:noFill/>
          </a:ln>
        </p:spPr>
        <p:txBody>
          <a:bodyPr lIns="0" tIns="0" rIns="0" bIns="0" anchor="t"/>
          <a:lstStyle>
            <a:defPPr>
              <a:defRPr sz="1200" b="0">
                <a:solidFill>
                  <a:srgbClr val="5E5D59"/>
                </a:solidFill>
                <a:latin typeface="Poppins"/>
                <a:ea typeface="Poppins"/>
                <a:cs typeface="Poppins"/>
              </a:defRPr>
            </a:defPPr>
          </a:lstStyle>
          <a:p>
            <a:pPr>
              <a:defRPr sz="1200" b="0">
                <a:solidFill>
                  <a:srgbClr val="5E5D59"/>
                </a:solidFill>
                <a:latin typeface="Poppins"/>
                <a:ea typeface="Poppins"/>
                <a:cs typeface="Poppins"/>
              </a:defRPr>
            </a:pPr>
            <a:r>
              <a:rPr sz="1200" b="0">
                <a:solidFill>
                  <a:srgbClr val="5E5D59"/>
                </a:solidFill>
                <a:latin typeface="Poppins"/>
                <a:ea typeface="Poppins"/>
                <a:cs typeface="Poppins"/>
              </a:rPr>
              <a:t>FULL PIPELINE / 72 CONVERSATIONS</a:t>
            </a:r>
          </a:p>
        </p:txBody>
      </p:sp>
      <p:graphicFrame>
        <p:nvGraphicFramePr>
          <p:cNvPr id="16" name="Table 15">
            <a:extLst>
              <a:ext uri="{FF2B5EF4-FFF2-40B4-BE49-F238E27FC236}">
                <a16:creationId xmlns:a16="http://schemas.microsoft.com/office/drawing/2014/main" id="{1EF27B8C-5A9C-45B6-9CDB-F8F6F83CB53B}"/>
              </a:ext>
            </a:extLst>
          </p:cNvPr>
          <p:cNvGraphicFramePr/>
          <p:nvPr/>
        </p:nvGraphicFramePr>
        <p:xfrm>
          <a:off x="7753350" y="3895725"/>
          <a:ext cx="3829050" cy="1485900"/>
        </p:xfrm>
        <a:graphic>
          <a:graphicData uri="http://schemas.openxmlformats.org/drawingml/2006/table">
            <a:tbl>
              <a:tblPr/>
              <a:tblGrid>
                <a:gridCol w="2524125">
                  <a:extLst>
                    <a:ext uri="{9D8B030D-6E8A-4147-A177-3AD203B41FA5}">
                      <a16:colId xmlns:a16="http://schemas.microsoft.com/office/drawing/2014/main" val="20000"/>
                    </a:ext>
                  </a:extLst>
                </a:gridCol>
                <a:gridCol w="1304925">
                  <a:extLst>
                    <a:ext uri="{9D8B030D-6E8A-4147-A177-3AD203B41FA5}">
                      <a16:colId xmlns:a16="http://schemas.microsoft.com/office/drawing/2014/main" val="20001"/>
                    </a:ext>
                  </a:extLst>
                </a:gridCol>
              </a:tblGrid>
              <a:tr h="495300">
                <a:tc>
                  <a:txBody>
                    <a:bodyPr/>
                    <a:lstStyle/>
                    <a:p>
                      <a:r>
                        <a:rPr sz="1350" b="1">
                          <a:solidFill>
                            <a:srgbClr val="141413"/>
                          </a:solidFill>
                          <a:latin typeface="Poppins"/>
                          <a:ea typeface="Poppins"/>
                          <a:cs typeface="Poppins"/>
                        </a:rPr>
                        <a:t>Order</a:t>
                      </a:r>
                    </a:p>
                  </a:txBody>
                  <a:tcPr>
                    <a:lnL w="9525">
                      <a:solidFill>
                        <a:srgbClr val="E8E6DC"/>
                      </a:solidFill>
                    </a:lnL>
                    <a:lnR w="9525">
                      <a:solidFill>
                        <a:srgbClr val="E8E6DC"/>
                      </a:solidFill>
                    </a:lnR>
                    <a:lnT w="9525">
                      <a:solidFill>
                        <a:srgbClr val="E8E6DC"/>
                      </a:solidFill>
                    </a:lnT>
                    <a:lnB w="9525">
                      <a:solidFill>
                        <a:srgbClr val="E8E6DC"/>
                      </a:solidFill>
                    </a:lnB>
                    <a:solidFill>
                      <a:srgbClr val="F0EEE6"/>
                    </a:solidFill>
                  </a:tcPr>
                </a:tc>
                <a:tc>
                  <a:txBody>
                    <a:bodyPr/>
                    <a:lstStyle/>
                    <a:p>
                      <a:r>
                        <a:rPr sz="1350" b="1">
                          <a:solidFill>
                            <a:srgbClr val="141413"/>
                          </a:solidFill>
                          <a:latin typeface="Poppins"/>
                          <a:ea typeface="Poppins"/>
                          <a:cs typeface="Poppins"/>
                        </a:rPr>
                        <a:t>cpWER</a:t>
                      </a:r>
                    </a:p>
                  </a:txBody>
                  <a:tcPr>
                    <a:lnL w="9525" cap="flat" cmpd="sng" algn="ctr">
                      <a:solidFill>
                        <a:srgbClr val="E8E6DC"/>
                      </a:solidFill>
                      <a:prstDash val="solid"/>
                      <a:round/>
                      <a:headEnd type="none" w="med" len="med"/>
                      <a:tailEnd type="none" w="med" len="med"/>
                    </a:lnL>
                    <a:lnR w="9525">
                      <a:solidFill>
                        <a:srgbClr val="E8E6DC"/>
                      </a:solidFill>
                    </a:lnR>
                    <a:lnT w="9525">
                      <a:solidFill>
                        <a:srgbClr val="E8E6DC"/>
                      </a:solidFill>
                    </a:lnT>
                    <a:lnB w="9525">
                      <a:solidFill>
                        <a:srgbClr val="E8E6DC"/>
                      </a:solidFill>
                    </a:lnB>
                    <a:solidFill>
                      <a:srgbClr val="F0EEE6"/>
                    </a:solidFill>
                  </a:tcPr>
                </a:tc>
                <a:extLst>
                  <a:ext uri="{0D108BD9-81ED-4DB2-BD59-A6C34878D82A}">
                    <a16:rowId xmlns:a16="http://schemas.microsoft.com/office/drawing/2014/main" val="10000"/>
                  </a:ext>
                </a:extLst>
              </a:tr>
              <a:tr h="495300">
                <a:tc>
                  <a:txBody>
                    <a:bodyPr/>
                    <a:lstStyle/>
                    <a:p>
                      <a:r>
                        <a:rPr sz="1500" b="0">
                          <a:solidFill>
                            <a:srgbClr val="141413"/>
                          </a:solidFill>
                          <a:latin typeface="Georgia"/>
                          <a:ea typeface="Georgia"/>
                          <a:cs typeface="Georgia"/>
                        </a:rPr>
                        <a:t>A: separate first</a:t>
                      </a:r>
                    </a:p>
                  </a:txBody>
                  <a:tcPr>
                    <a:lnL w="9525">
                      <a:solidFill>
                        <a:srgbClr val="E8E6DC"/>
                      </a:solidFill>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500" b="0">
                          <a:solidFill>
                            <a:srgbClr val="141413"/>
                          </a:solidFill>
                          <a:latin typeface="Georgia"/>
                          <a:ea typeface="Georgia"/>
                          <a:cs typeface="Georgia"/>
                        </a:rPr>
                        <a:t>55.8%</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extLst>
                  <a:ext uri="{0D108BD9-81ED-4DB2-BD59-A6C34878D82A}">
                    <a16:rowId xmlns:a16="http://schemas.microsoft.com/office/drawing/2014/main" val="10001"/>
                  </a:ext>
                </a:extLst>
              </a:tr>
              <a:tr h="495300">
                <a:tc>
                  <a:txBody>
                    <a:bodyPr/>
                    <a:lstStyle/>
                    <a:p>
                      <a:r>
                        <a:rPr sz="1500" b="0">
                          <a:solidFill>
                            <a:srgbClr val="141413"/>
                          </a:solidFill>
                          <a:latin typeface="Georgia"/>
                          <a:ea typeface="Georgia"/>
                          <a:cs typeface="Georgia"/>
                        </a:rPr>
                        <a:t>B: diarize first</a:t>
                      </a:r>
                    </a:p>
                  </a:txBody>
                  <a:tcPr>
                    <a:lnL w="9525">
                      <a:solidFill>
                        <a:srgbClr val="E8E6DC"/>
                      </a:solidFill>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tc>
                  <a:txBody>
                    <a:bodyPr/>
                    <a:lstStyle/>
                    <a:p>
                      <a:r>
                        <a:rPr sz="1500" b="0">
                          <a:solidFill>
                            <a:srgbClr val="141413"/>
                          </a:solidFill>
                          <a:latin typeface="Georgia"/>
                          <a:ea typeface="Georgia"/>
                          <a:cs typeface="Georgia"/>
                        </a:rPr>
                        <a:t>49.5%</a:t>
                      </a:r>
                    </a:p>
                  </a:txBody>
                  <a:tcPr>
                    <a:lnL w="9525" cap="flat" cmpd="sng" algn="ctr">
                      <a:solidFill>
                        <a:srgbClr val="E8E6DC"/>
                      </a:solidFill>
                      <a:prstDash val="solid"/>
                      <a:round/>
                      <a:headEnd type="none" w="med" len="med"/>
                      <a:tailEnd type="none" w="med" len="med"/>
                    </a:lnL>
                    <a:lnR w="9525">
                      <a:solidFill>
                        <a:srgbClr val="E8E6DC"/>
                      </a:solidFill>
                    </a:lnR>
                    <a:lnT w="9525" cap="flat" cmpd="sng" algn="ctr">
                      <a:solidFill>
                        <a:srgbClr val="E8E6DC"/>
                      </a:solidFill>
                      <a:prstDash val="solid"/>
                      <a:round/>
                      <a:headEnd type="none" w="med" len="med"/>
                      <a:tailEnd type="none" w="med" len="med"/>
                    </a:lnT>
                    <a:lnB w="9525">
                      <a:solidFill>
                        <a:srgbClr val="E8E6DC"/>
                      </a:solidFill>
                    </a:lnB>
                    <a:solidFill>
                      <a:srgbClr val="FAF9F5"/>
                    </a:solidFill>
                  </a:tcPr>
                </a:tc>
                <a:extLst>
                  <a:ext uri="{0D108BD9-81ED-4DB2-BD59-A6C34878D82A}">
                    <a16:rowId xmlns:a16="http://schemas.microsoft.com/office/drawing/2014/main" val="10002"/>
                  </a:ext>
                </a:extLst>
              </a:tr>
            </a:tbl>
          </a:graphicData>
        </a:graphic>
      </p:graphicFrame>
      <p:sp>
        <p:nvSpPr>
          <p:cNvPr id="17" name="Rectangle 16">
            <a:extLst>
              <a:ext uri="{FF2B5EF4-FFF2-40B4-BE49-F238E27FC236}">
                <a16:creationId xmlns:a16="http://schemas.microsoft.com/office/drawing/2014/main" id="{E6288486-A71E-45DE-8970-8E5D0443D86C}"/>
              </a:ext>
            </a:extLst>
          </p:cNvPr>
          <p:cNvSpPr>
            <a:spLocks noGrp="1"/>
          </p:cNvSpPr>
          <p:nvPr/>
        </p:nvSpPr>
        <p:spPr>
          <a:xfrm>
            <a:off x="7753350" y="5572125"/>
            <a:ext cx="3829050" cy="857250"/>
          </a:xfrm>
          <a:prstGeom prst="rect">
            <a:avLst/>
          </a:prstGeom>
          <a:noFill/>
          <a:ln w="0">
            <a:noFill/>
          </a:ln>
        </p:spPr>
        <p:txBody>
          <a:bodyPr lIns="0" tIns="0" rIns="0" bIns="0" anchor="t"/>
          <a:lstStyle>
            <a:defPPr>
              <a:defRPr sz="1500" b="0">
                <a:solidFill>
                  <a:srgbClr val="141413"/>
                </a:solidFill>
                <a:latin typeface="Georgia"/>
                <a:ea typeface="Georgia"/>
                <a:cs typeface="Georgia"/>
              </a:defRPr>
            </a:defPPr>
          </a:lstStyle>
          <a:p>
            <a:pPr>
              <a:defRPr sz="1500" b="0">
                <a:solidFill>
                  <a:srgbClr val="141413"/>
                </a:solidFill>
                <a:latin typeface="Georgia"/>
                <a:ea typeface="Georgia"/>
                <a:cs typeface="Georgia"/>
              </a:defRPr>
            </a:pPr>
            <a:r>
              <a:rPr sz="1500" b="0">
                <a:solidFill>
                  <a:srgbClr val="141413"/>
                </a:solidFill>
                <a:latin typeface="Georgia"/>
                <a:ea typeface="Georgia"/>
                <a:cs typeface="Georgia"/>
              </a:rPr>
              <a:t>B wins in 50 of 72 conversations.</a:t>
            </a:r>
          </a:p>
          <a:p>
            <a:pPr>
              <a:defRPr sz="1500" b="0">
                <a:solidFill>
                  <a:srgbClr val="141413"/>
                </a:solidFill>
                <a:latin typeface="Georgia"/>
                <a:ea typeface="Georgia"/>
                <a:cs typeface="Georgia"/>
              </a:defRPr>
            </a:pPr>
            <a:r>
              <a:rPr sz="1500" b="0">
                <a:solidFill>
                  <a:srgbClr val="141413"/>
                </a:solidFill>
                <a:latin typeface="Georgia"/>
                <a:ea typeface="Georgia"/>
                <a:cs typeface="Georgia"/>
              </a:rPr>
              <a:t>cpWER measures words and speaker attribution. Lower is better.</a:t>
            </a:r>
          </a:p>
        </p:txBody>
      </p:sp>
    </p:spTree>
    <p:extLst>
      <p:ext uri="{BB962C8B-B14F-4D97-AF65-F5344CB8AC3E}">
        <p14:creationId xmlns:p14="http://schemas.microsoft.com/office/powerpoint/2010/main" val="19334205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AF9F5"/>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F6F7248F-019D-485D-B66F-68DCF930FC40}"/>
              </a:ext>
            </a:extLst>
          </p:cNvPr>
          <p:cNvSpPr>
            <a:spLocks noGrp="1"/>
          </p:cNvSpPr>
          <p:nvPr/>
        </p:nvSpPr>
        <p:spPr>
          <a:xfrm>
            <a:off x="609600" y="314325"/>
            <a:ext cx="8572500" cy="209550"/>
          </a:xfrm>
          <a:prstGeom prst="rect">
            <a:avLst/>
          </a:prstGeom>
          <a:noFill/>
          <a:ln w="0">
            <a:noFill/>
          </a:ln>
        </p:spPr>
        <p:txBody>
          <a:bodyPr lIns="0" tIns="0" rIns="0" bIns="0" anchor="t"/>
          <a:lstStyle>
            <a:defPPr>
              <a:defRPr sz="1125" b="0">
                <a:solidFill>
                  <a:srgbClr val="5E5D59"/>
                </a:solidFill>
                <a:latin typeface="Poppins"/>
                <a:ea typeface="Poppins"/>
                <a:cs typeface="Poppins"/>
              </a:defRPr>
            </a:defPPr>
          </a:lstStyle>
          <a:p>
            <a:pPr>
              <a:defRPr sz="1125" b="0">
                <a:solidFill>
                  <a:srgbClr val="5E5D59"/>
                </a:solidFill>
                <a:latin typeface="Poppins"/>
                <a:ea typeface="Poppins"/>
                <a:cs typeface="Poppins"/>
              </a:defRPr>
            </a:pPr>
            <a:r>
              <a:rPr sz="1125" b="0">
                <a:solidFill>
                  <a:srgbClr val="5E5D59"/>
                </a:solidFill>
                <a:latin typeface="Poppins"/>
                <a:ea typeface="Poppins"/>
                <a:cs typeface="Poppins"/>
              </a:rPr>
              <a:t>TEAM vismAI / CS F407</a:t>
            </a:r>
          </a:p>
        </p:txBody>
      </p:sp>
      <p:sp>
        <p:nvSpPr>
          <p:cNvPr id="2" name="Rectangle 1">
            <a:extLst>
              <a:ext uri="{FF2B5EF4-FFF2-40B4-BE49-F238E27FC236}">
                <a16:creationId xmlns:a16="http://schemas.microsoft.com/office/drawing/2014/main" id="{B310CBCD-3B20-4C2F-BDB3-9D2722D96E5E}"/>
              </a:ext>
            </a:extLst>
          </p:cNvPr>
          <p:cNvSpPr>
            <a:spLocks noGrp="1"/>
          </p:cNvSpPr>
          <p:nvPr/>
        </p:nvSpPr>
        <p:spPr>
          <a:xfrm>
            <a:off x="609600" y="695325"/>
            <a:ext cx="10972800" cy="619125"/>
          </a:xfrm>
          <a:prstGeom prst="rect">
            <a:avLst/>
          </a:prstGeom>
          <a:noFill/>
          <a:ln w="0">
            <a:noFill/>
          </a:ln>
        </p:spPr>
        <p:txBody>
          <a:bodyPr lIns="0" tIns="0" rIns="0" bIns="0" anchor="t"/>
          <a:lstStyle>
            <a:defPPr>
              <a:defRPr sz="3000" b="1">
                <a:solidFill>
                  <a:srgbClr val="141413"/>
                </a:solidFill>
                <a:latin typeface="Poppins"/>
                <a:ea typeface="Poppins"/>
                <a:cs typeface="Poppins"/>
              </a:defRPr>
            </a:defPPr>
          </a:lstStyle>
          <a:p>
            <a:pPr>
              <a:defRPr sz="3000" b="1">
                <a:solidFill>
                  <a:srgbClr val="141413"/>
                </a:solidFill>
                <a:latin typeface="Poppins"/>
                <a:ea typeface="Poppins"/>
                <a:cs typeface="Poppins"/>
              </a:defRPr>
            </a:pPr>
            <a:r>
              <a:rPr sz="3000" b="1">
                <a:solidFill>
                  <a:srgbClr val="141413"/>
                </a:solidFill>
                <a:latin typeface="Poppins"/>
                <a:ea typeface="Poppins"/>
                <a:cs typeface="Poppins"/>
              </a:rPr>
              <a:t>The report output, and what remains</a:t>
            </a:r>
          </a:p>
        </p:txBody>
      </p:sp>
      <p:sp>
        <p:nvSpPr>
          <p:cNvPr id="3" name="Rectangle 2">
            <a:extLst>
              <a:ext uri="{FF2B5EF4-FFF2-40B4-BE49-F238E27FC236}">
                <a16:creationId xmlns:a16="http://schemas.microsoft.com/office/drawing/2014/main" id="{81731255-3F40-48E3-A37A-F0135A5CCE31}"/>
              </a:ext>
            </a:extLst>
          </p:cNvPr>
          <p:cNvSpPr>
            <a:spLocks noGrp="1"/>
          </p:cNvSpPr>
          <p:nvPr/>
        </p:nvSpPr>
        <p:spPr>
          <a:xfrm>
            <a:off x="609600" y="1362075"/>
            <a:ext cx="10972800" cy="552450"/>
          </a:xfrm>
          <a:prstGeom prst="rect">
            <a:avLst/>
          </a:prstGeom>
          <a:noFill/>
          <a:ln w="0">
            <a:noFill/>
          </a:ln>
        </p:spPr>
        <p:txBody>
          <a:bodyPr lIns="0" tIns="0" rIns="0" bIns="0" anchor="t"/>
          <a:lstStyle>
            <a:defPPr>
              <a:defRPr sz="1575" b="0">
                <a:solidFill>
                  <a:srgbClr val="5E5D59"/>
                </a:solidFill>
                <a:latin typeface="Georgia"/>
                <a:ea typeface="Georgia"/>
                <a:cs typeface="Georgia"/>
              </a:defRPr>
            </a:defPPr>
          </a:lstStyle>
          <a:p>
            <a:pPr>
              <a:defRPr sz="1575" b="0">
                <a:solidFill>
                  <a:srgbClr val="5E5D59"/>
                </a:solidFill>
                <a:latin typeface="Georgia"/>
                <a:ea typeface="Georgia"/>
                <a:cs typeface="Georgia"/>
              </a:defRPr>
            </a:pPr>
            <a:r>
              <a:rPr sz="1575" b="0">
                <a:solidFill>
                  <a:srgbClr val="5E5D59"/>
                </a:solidFill>
                <a:latin typeface="Georgia"/>
                <a:ea typeface="Georgia"/>
                <a:cs typeface="Georgia"/>
              </a:rPr>
              <a:t>M4 / Shrivaths     Airavata 7B, quantised to 4 bits and run locally</a:t>
            </a:r>
          </a:p>
        </p:txBody>
      </p:sp>
      <p:sp>
        <p:nvSpPr>
          <p:cNvPr id="4" name="Rectangle 3">
            <a:extLst>
              <a:ext uri="{FF2B5EF4-FFF2-40B4-BE49-F238E27FC236}">
                <a16:creationId xmlns:a16="http://schemas.microsoft.com/office/drawing/2014/main" id="{E49FCF65-E60E-4CD4-BC5A-0B7A99714778}"/>
              </a:ext>
            </a:extLst>
          </p:cNvPr>
          <p:cNvSpPr>
            <a:spLocks noGrp="1"/>
          </p:cNvSpPr>
          <p:nvPr/>
        </p:nvSpPr>
        <p:spPr>
          <a:xfrm>
            <a:off x="609600" y="6486525"/>
            <a:ext cx="10972800" cy="209550"/>
          </a:xfrm>
          <a:prstGeom prst="rect">
            <a:avLst/>
          </a:prstGeom>
          <a:noFill/>
          <a:ln w="0">
            <a:noFill/>
          </a:ln>
        </p:spPr>
        <p:txBody>
          <a:bodyPr lIns="0" tIns="0" rIns="0" bIns="0" anchor="t"/>
          <a:lstStyle>
            <a:defPPr>
              <a:defRPr sz="1050" b="0">
                <a:solidFill>
                  <a:srgbClr val="5E5D59"/>
                </a:solidFill>
                <a:latin typeface="Poppins"/>
                <a:ea typeface="Poppins"/>
                <a:cs typeface="Poppins"/>
              </a:defRPr>
            </a:defPPr>
          </a:lstStyle>
          <a:p>
            <a:pPr>
              <a:defRPr sz="1050" b="0">
                <a:solidFill>
                  <a:srgbClr val="5E5D59"/>
                </a:solidFill>
                <a:latin typeface="Poppins"/>
                <a:ea typeface="Poppins"/>
                <a:cs typeface="Poppins"/>
              </a:defRPr>
            </a:pPr>
            <a:r>
              <a:rPr sz="1050" b="0">
                <a:solidFill>
                  <a:srgbClr val="5E5D59"/>
                </a:solidFill>
                <a:latin typeface="Poppins"/>
                <a:ea typeface="Poppins"/>
                <a:cs typeface="Poppins"/>
              </a:rPr>
              <a:t>whospoke     3 / 3</a:t>
            </a:r>
          </a:p>
        </p:txBody>
      </p:sp>
      <p:sp>
        <p:nvSpPr>
          <p:cNvPr id="5" name="Rectangle 4">
            <a:extLst>
              <a:ext uri="{FF2B5EF4-FFF2-40B4-BE49-F238E27FC236}">
                <a16:creationId xmlns:a16="http://schemas.microsoft.com/office/drawing/2014/main" id="{F2AD4EDC-1A73-4337-B954-0ED342CFD402}"/>
              </a:ext>
            </a:extLst>
          </p:cNvPr>
          <p:cNvSpPr>
            <a:spLocks noGrp="1"/>
          </p:cNvSpPr>
          <p:nvPr/>
        </p:nvSpPr>
        <p:spPr>
          <a:xfrm>
            <a:off x="609600" y="2057400"/>
            <a:ext cx="5334000" cy="276225"/>
          </a:xfrm>
          <a:prstGeom prst="rect">
            <a:avLst/>
          </a:prstGeom>
          <a:noFill/>
          <a:ln w="0">
            <a:noFill/>
          </a:ln>
        </p:spPr>
        <p:txBody>
          <a:bodyPr lIns="0" tIns="0" rIns="0" bIns="0" anchor="t"/>
          <a:lstStyle>
            <a:defPPr>
              <a:defRPr sz="1275" b="0">
                <a:solidFill>
                  <a:srgbClr val="5E5D59"/>
                </a:solidFill>
                <a:latin typeface="Poppins"/>
                <a:ea typeface="Poppins"/>
                <a:cs typeface="Poppins"/>
              </a:defRPr>
            </a:defPPr>
          </a:lstStyle>
          <a:p>
            <a:pPr>
              <a:defRPr sz="1275" b="0">
                <a:solidFill>
                  <a:srgbClr val="5E5D59"/>
                </a:solidFill>
                <a:latin typeface="Poppins"/>
                <a:ea typeface="Poppins"/>
                <a:cs typeface="Poppins"/>
              </a:defRPr>
            </a:pPr>
            <a:r>
              <a:rPr sz="1275" b="0">
                <a:solidFill>
                  <a:srgbClr val="5E5D59"/>
                </a:solidFill>
                <a:latin typeface="Poppins"/>
                <a:ea typeface="Poppins"/>
                <a:cs typeface="Poppins"/>
              </a:rPr>
              <a:t>ACTUAL REPORT EXCERPTS</a:t>
            </a:r>
          </a:p>
        </p:txBody>
      </p:sp>
      <p:sp>
        <p:nvSpPr>
          <p:cNvPr id="6" name="Rectangle 5">
            <a:extLst>
              <a:ext uri="{FF2B5EF4-FFF2-40B4-BE49-F238E27FC236}">
                <a16:creationId xmlns:a16="http://schemas.microsoft.com/office/drawing/2014/main" id="{30B7D8A8-1533-4E72-9B98-0257BBF6713F}"/>
              </a:ext>
            </a:extLst>
          </p:cNvPr>
          <p:cNvSpPr>
            <a:spLocks noGrp="1"/>
          </p:cNvSpPr>
          <p:nvPr/>
        </p:nvSpPr>
        <p:spPr>
          <a:xfrm>
            <a:off x="609600" y="2524125"/>
            <a:ext cx="5334000" cy="266700"/>
          </a:xfrm>
          <a:prstGeom prst="rect">
            <a:avLst/>
          </a:prstGeom>
          <a:noFill/>
          <a:ln w="0">
            <a:noFill/>
          </a:ln>
        </p:spPr>
        <p:txBody>
          <a:bodyPr lIns="0" tIns="0" rIns="0" bIns="0" anchor="t"/>
          <a:lstStyle>
            <a:defPPr>
              <a:defRPr sz="1500" b="0">
                <a:solidFill>
                  <a:srgbClr val="5E5D59"/>
                </a:solidFill>
                <a:latin typeface="Georgia"/>
                <a:ea typeface="Georgia"/>
                <a:cs typeface="Georgia"/>
              </a:defRPr>
            </a:defPPr>
          </a:lstStyle>
          <a:p>
            <a:pPr>
              <a:defRPr sz="1500" b="0">
                <a:solidFill>
                  <a:srgbClr val="5E5D59"/>
                </a:solidFill>
                <a:latin typeface="Georgia"/>
                <a:ea typeface="Georgia"/>
                <a:cs typeface="Georgia"/>
              </a:defRPr>
            </a:pPr>
            <a:r>
              <a:rPr sz="1500" b="0">
                <a:solidFill>
                  <a:srgbClr val="5E5D59"/>
                </a:solidFill>
                <a:latin typeface="Georgia"/>
                <a:ea typeface="Georgia"/>
                <a:cs typeface="Georgia"/>
              </a:rPr>
              <a:t>Key point</a:t>
            </a:r>
          </a:p>
        </p:txBody>
      </p:sp>
      <p:sp>
        <p:nvSpPr>
          <p:cNvPr id="7" name="Rectangle 6">
            <a:extLst>
              <a:ext uri="{FF2B5EF4-FFF2-40B4-BE49-F238E27FC236}">
                <a16:creationId xmlns:a16="http://schemas.microsoft.com/office/drawing/2014/main" id="{E2BDB2CF-50F8-4A4E-80A4-D036A92F151C}"/>
              </a:ext>
            </a:extLst>
          </p:cNvPr>
          <p:cNvSpPr>
            <a:spLocks noGrp="1"/>
          </p:cNvSpPr>
          <p:nvPr/>
        </p:nvSpPr>
        <p:spPr>
          <a:xfrm>
            <a:off x="609600" y="2886075"/>
            <a:ext cx="5334000" cy="809625"/>
          </a:xfrm>
          <a:prstGeom prst="rect">
            <a:avLst/>
          </a:prstGeom>
          <a:noFill/>
          <a:ln w="0">
            <a:noFill/>
          </a:ln>
        </p:spPr>
        <p:txBody>
          <a:bodyPr lIns="0" tIns="0" rIns="0" bIns="0" anchor="t"/>
          <a:lstStyle>
            <a:defPPr>
              <a:defRPr sz="2400" b="0">
                <a:solidFill>
                  <a:srgbClr val="141413"/>
                </a:solidFill>
                <a:latin typeface="Georgia"/>
                <a:ea typeface="Georgia"/>
                <a:cs typeface="Georgia"/>
              </a:defRPr>
            </a:defPPr>
          </a:lstStyle>
          <a:p>
            <a:pPr>
              <a:defRPr sz="2400" b="0">
                <a:solidFill>
                  <a:srgbClr val="141413"/>
                </a:solidFill>
                <a:latin typeface="Georgia"/>
                <a:ea typeface="Georgia"/>
                <a:cs typeface="Georgia"/>
              </a:defRPr>
            </a:pPr>
            <a:r>
              <a:rPr sz="2400" b="0">
                <a:solidFill>
                  <a:srgbClr val="141413"/>
                </a:solidFill>
                <a:latin typeface="Georgia"/>
                <a:ea typeface="Georgia"/>
                <a:cs typeface="Georgia"/>
              </a:rPr>
              <a:t>“Speaker A lost his ID card”</a:t>
            </a:r>
          </a:p>
        </p:txBody>
      </p:sp>
      <p:sp>
        <p:nvSpPr>
          <p:cNvPr id="8" name="Rectangle 7">
            <a:extLst>
              <a:ext uri="{FF2B5EF4-FFF2-40B4-BE49-F238E27FC236}">
                <a16:creationId xmlns:a16="http://schemas.microsoft.com/office/drawing/2014/main" id="{1D128EE6-716E-4BC2-89CF-8E77B34301E2}"/>
              </a:ext>
            </a:extLst>
          </p:cNvPr>
          <p:cNvSpPr>
            <a:spLocks noGrp="1"/>
          </p:cNvSpPr>
          <p:nvPr/>
        </p:nvSpPr>
        <p:spPr>
          <a:xfrm>
            <a:off x="609600" y="3790950"/>
            <a:ext cx="5334000" cy="276225"/>
          </a:xfrm>
          <a:prstGeom prst="rect">
            <a:avLst/>
          </a:prstGeom>
          <a:noFill/>
          <a:ln w="0">
            <a:noFill/>
          </a:ln>
        </p:spPr>
        <p:txBody>
          <a:bodyPr lIns="0" tIns="0" rIns="0" bIns="0" anchor="t"/>
          <a:lstStyle>
            <a:defPPr>
              <a:defRPr sz="1350" b="0">
                <a:solidFill>
                  <a:srgbClr val="5E5D59"/>
                </a:solidFill>
                <a:latin typeface="Poppins"/>
                <a:ea typeface="Poppins"/>
                <a:cs typeface="Poppins"/>
              </a:defRPr>
            </a:defPPr>
          </a:lstStyle>
          <a:p>
            <a:pPr>
              <a:defRPr sz="1350" b="0">
                <a:solidFill>
                  <a:srgbClr val="5E5D59"/>
                </a:solidFill>
                <a:latin typeface="Poppins"/>
                <a:ea typeface="Poppins"/>
                <a:cs typeface="Poppins"/>
              </a:defRPr>
            </a:pPr>
            <a:r>
              <a:rPr sz="1350" b="0">
                <a:solidFill>
                  <a:srgbClr val="5E5D59"/>
                </a:solidFill>
                <a:latin typeface="Poppins"/>
                <a:ea typeface="Poppins"/>
                <a:cs typeface="Poppins"/>
              </a:rPr>
              <a:t>Line 13 / Speaker_A / 00:51–00:54</a:t>
            </a:r>
          </a:p>
        </p:txBody>
      </p:sp>
      <p:sp>
        <p:nvSpPr>
          <p:cNvPr id="9" name="Rectangle 8">
            <a:extLst>
              <a:ext uri="{FF2B5EF4-FFF2-40B4-BE49-F238E27FC236}">
                <a16:creationId xmlns:a16="http://schemas.microsoft.com/office/drawing/2014/main" id="{183DF161-B823-4283-B201-64B104DF2C3F}"/>
              </a:ext>
            </a:extLst>
          </p:cNvPr>
          <p:cNvSpPr>
            <a:spLocks noGrp="1"/>
          </p:cNvSpPr>
          <p:nvPr/>
        </p:nvSpPr>
        <p:spPr>
          <a:xfrm>
            <a:off x="609600" y="4181475"/>
            <a:ext cx="5334000" cy="1000125"/>
          </a:xfrm>
          <a:prstGeom prst="rect">
            <a:avLst/>
          </a:prstGeom>
          <a:noFill/>
          <a:ln w="0">
            <a:noFill/>
          </a:ln>
        </p:spPr>
        <p:txBody>
          <a:bodyPr lIns="0" tIns="0" rIns="0" bIns="0" anchor="t"/>
          <a:lstStyle>
            <a:defPPr>
              <a:defRPr sz="2325" b="0">
                <a:solidFill>
                  <a:srgbClr val="D97757"/>
                </a:solidFill>
                <a:latin typeface="Georgia"/>
                <a:ea typeface="Georgia"/>
                <a:cs typeface="Georgia"/>
              </a:defRPr>
            </a:defPPr>
          </a:lstStyle>
          <a:p>
            <a:pPr>
              <a:defRPr sz="2325" b="0">
                <a:solidFill>
                  <a:srgbClr val="D97757"/>
                </a:solidFill>
                <a:latin typeface="Georgia"/>
                <a:ea typeface="Georgia"/>
                <a:cs typeface="Georgia"/>
              </a:defRPr>
            </a:pPr>
            <a:r>
              <a:rPr sz="2325" b="0">
                <a:solidFill>
                  <a:srgbClr val="D97757"/>
                </a:solidFill>
                <a:latin typeface="Georgia"/>
                <a:ea typeface="Georgia"/>
                <a:cs typeface="Georgia"/>
              </a:rPr>
              <a:t>“The office is open until what time?”</a:t>
            </a:r>
          </a:p>
        </p:txBody>
      </p:sp>
      <p:sp>
        <p:nvSpPr>
          <p:cNvPr id="10" name="Rectangle 9">
            <a:extLst>
              <a:ext uri="{FF2B5EF4-FFF2-40B4-BE49-F238E27FC236}">
                <a16:creationId xmlns:a16="http://schemas.microsoft.com/office/drawing/2014/main" id="{8361B1D2-1620-42C3-8D69-3A4C417DFEB2}"/>
              </a:ext>
            </a:extLst>
          </p:cNvPr>
          <p:cNvSpPr>
            <a:spLocks noGrp="1"/>
          </p:cNvSpPr>
          <p:nvPr/>
        </p:nvSpPr>
        <p:spPr>
          <a:xfrm>
            <a:off x="609600" y="5486400"/>
            <a:ext cx="5334000" cy="762000"/>
          </a:xfrm>
          <a:prstGeom prst="rect">
            <a:avLst/>
          </a:prstGeom>
          <a:noFill/>
          <a:ln w="0">
            <a:noFill/>
          </a:ln>
        </p:spPr>
        <p:txBody>
          <a:bodyPr lIns="0" tIns="0" rIns="0" bIns="0" anchor="t"/>
          <a:lstStyle>
            <a:defPPr>
              <a:defRPr sz="1650" b="0">
                <a:solidFill>
                  <a:srgbClr val="141413"/>
                </a:solidFill>
                <a:latin typeface="Georgia"/>
                <a:ea typeface="Georgia"/>
                <a:cs typeface="Georgia"/>
              </a:defRPr>
            </a:defPPr>
          </a:lstStyle>
          <a:p>
            <a:pPr>
              <a:defRPr sz="1650" b="0">
                <a:solidFill>
                  <a:srgbClr val="141413"/>
                </a:solidFill>
                <a:latin typeface="Georgia"/>
                <a:ea typeface="Georgia"/>
                <a:cs typeface="Georgia"/>
              </a:defRPr>
            </a:pPr>
            <a:r>
              <a:rPr sz="1650" b="0">
                <a:solidFill>
                  <a:srgbClr val="141413"/>
                </a:solidFill>
                <a:latin typeface="Georgia"/>
                <a:ea typeface="Georgia"/>
                <a:cs typeface="Georgia"/>
              </a:rPr>
              <a:t>Produces a summary, keywords and translated dialogue. Speakers and times pass through unchanged.</a:t>
            </a:r>
          </a:p>
        </p:txBody>
      </p:sp>
      <p:sp>
        <p:nvSpPr>
          <p:cNvPr id="11" name="Rectangle 10">
            <a:extLst>
              <a:ext uri="{FF2B5EF4-FFF2-40B4-BE49-F238E27FC236}">
                <a16:creationId xmlns:a16="http://schemas.microsoft.com/office/drawing/2014/main" id="{140E2A48-9FD5-4359-B2B0-BFE350E60ED3}"/>
              </a:ext>
            </a:extLst>
          </p:cNvPr>
          <p:cNvSpPr>
            <a:spLocks noGrp="1"/>
          </p:cNvSpPr>
          <p:nvPr/>
        </p:nvSpPr>
        <p:spPr>
          <a:xfrm>
            <a:off x="6648450" y="2057400"/>
            <a:ext cx="4933950" cy="361950"/>
          </a:xfrm>
          <a:prstGeom prst="rect">
            <a:avLst/>
          </a:prstGeom>
          <a:noFill/>
          <a:ln w="0">
            <a:noFill/>
          </a:ln>
        </p:spPr>
        <p:txBody>
          <a:bodyPr lIns="0" tIns="0" rIns="0" bIns="0" anchor="t"/>
          <a:lstStyle>
            <a:defPPr>
              <a:defRPr sz="1950" b="1">
                <a:solidFill>
                  <a:srgbClr val="141413"/>
                </a:solidFill>
                <a:latin typeface="Poppins"/>
                <a:ea typeface="Poppins"/>
                <a:cs typeface="Poppins"/>
              </a:defRPr>
            </a:defPPr>
          </a:lstStyle>
          <a:p>
            <a:pPr>
              <a:defRPr sz="1950" b="1">
                <a:solidFill>
                  <a:srgbClr val="141413"/>
                </a:solidFill>
                <a:latin typeface="Poppins"/>
                <a:ea typeface="Poppins"/>
                <a:cs typeface="Poppins"/>
              </a:defRPr>
            </a:pPr>
            <a:r>
              <a:rPr sz="1950" b="1">
                <a:solidFill>
                  <a:srgbClr val="141413"/>
                </a:solidFill>
                <a:latin typeface="Poppins"/>
                <a:ea typeface="Poppins"/>
                <a:cs typeface="Poppins"/>
              </a:rPr>
              <a:t>Measured limits</a:t>
            </a:r>
          </a:p>
        </p:txBody>
      </p:sp>
      <p:sp>
        <p:nvSpPr>
          <p:cNvPr id="12" name="Rectangle 11">
            <a:extLst>
              <a:ext uri="{FF2B5EF4-FFF2-40B4-BE49-F238E27FC236}">
                <a16:creationId xmlns:a16="http://schemas.microsoft.com/office/drawing/2014/main" id="{8CC38B9C-FE55-4AF7-A1F8-509FE56B595E}"/>
              </a:ext>
            </a:extLst>
          </p:cNvPr>
          <p:cNvSpPr>
            <a:spLocks noGrp="1"/>
          </p:cNvSpPr>
          <p:nvPr/>
        </p:nvSpPr>
        <p:spPr>
          <a:xfrm>
            <a:off x="6648450" y="2562225"/>
            <a:ext cx="4933950" cy="990600"/>
          </a:xfrm>
          <a:prstGeom prst="rect">
            <a:avLst/>
          </a:prstGeom>
          <a:noFill/>
          <a:ln w="0">
            <a:noFill/>
          </a:ln>
        </p:spPr>
        <p:txBody>
          <a:bodyPr lIns="0" tIns="0" rIns="0" bIns="0" anchor="t"/>
          <a:lstStyle>
            <a:defPPr>
              <a:defRPr sz="1650" b="0">
                <a:solidFill>
                  <a:srgbClr val="141413"/>
                </a:solidFill>
                <a:latin typeface="Georgia"/>
                <a:ea typeface="Georgia"/>
                <a:cs typeface="Georgia"/>
              </a:defRPr>
            </a:defPPr>
          </a:lstStyle>
          <a:p>
            <a:pPr>
              <a:defRPr sz="1650" b="0">
                <a:solidFill>
                  <a:srgbClr val="141413"/>
                </a:solidFill>
                <a:latin typeface="Georgia"/>
                <a:ea typeface="Georgia"/>
                <a:cs typeface="Georgia"/>
              </a:defRPr>
            </a:pPr>
            <a:r>
              <a:rPr sz="1650" b="0">
                <a:solidFill>
                  <a:srgbClr val="141413"/>
                </a:solidFill>
                <a:latin typeface="Georgia"/>
                <a:ea typeface="Georgia"/>
                <a:cs typeface="Georgia"/>
              </a:rPr>
              <a:t>Transcript repair adds 0.9 cpWER points</a:t>
            </a:r>
          </a:p>
          <a:p>
            <a:pPr>
              <a:defRPr sz="1650" b="0">
                <a:solidFill>
                  <a:srgbClr val="141413"/>
                </a:solidFill>
                <a:latin typeface="Georgia"/>
                <a:ea typeface="Georgia"/>
                <a:cs typeface="Georgia"/>
              </a:defRPr>
            </a:pPr>
            <a:r>
              <a:rPr sz="1650" b="0">
                <a:solidFill>
                  <a:srgbClr val="141413"/>
                </a:solidFill>
                <a:latin typeface="Georgia"/>
                <a:ea typeface="Georgia"/>
                <a:cs typeface="Georgia"/>
              </a:rPr>
              <a:t>(paired mean across 63 conversations).</a:t>
            </a:r>
          </a:p>
          <a:p>
            <a:pPr>
              <a:defRPr sz="1650" b="0">
                <a:solidFill>
                  <a:srgbClr val="141413"/>
                </a:solidFill>
                <a:latin typeface="Georgia"/>
                <a:ea typeface="Georgia"/>
                <a:cs typeface="Georgia"/>
              </a:defRPr>
            </a:pPr>
            <a:r>
              <a:rPr sz="1650" b="0">
                <a:solidFill>
                  <a:srgbClr val="141413"/>
                </a:solidFill>
                <a:latin typeface="Georgia"/>
                <a:ea typeface="Georgia"/>
                <a:cs typeface="Georgia"/>
              </a:rPr>
              <a:t>No accepted action items in 252 reports.</a:t>
            </a:r>
          </a:p>
        </p:txBody>
      </p:sp>
      <p:sp>
        <p:nvSpPr>
          <p:cNvPr id="13" name="Rectangle 12">
            <a:extLst>
              <a:ext uri="{FF2B5EF4-FFF2-40B4-BE49-F238E27FC236}">
                <a16:creationId xmlns:a16="http://schemas.microsoft.com/office/drawing/2014/main" id="{5F29FFD2-77CB-4EC7-B839-89AFEEEE06A2}"/>
              </a:ext>
            </a:extLst>
          </p:cNvPr>
          <p:cNvSpPr>
            <a:spLocks noGrp="1"/>
          </p:cNvSpPr>
          <p:nvPr/>
        </p:nvSpPr>
        <p:spPr>
          <a:xfrm>
            <a:off x="6648450" y="3838575"/>
            <a:ext cx="4933950" cy="619125"/>
          </a:xfrm>
          <a:prstGeom prst="rect">
            <a:avLst/>
          </a:prstGeom>
          <a:noFill/>
          <a:ln w="0">
            <a:noFill/>
          </a:ln>
        </p:spPr>
        <p:txBody>
          <a:bodyPr lIns="0" tIns="0" rIns="0" bIns="0" anchor="t"/>
          <a:lstStyle>
            <a:defPPr>
              <a:defRPr sz="1875" b="1">
                <a:solidFill>
                  <a:srgbClr val="141413"/>
                </a:solidFill>
                <a:latin typeface="Poppins"/>
                <a:ea typeface="Poppins"/>
                <a:cs typeface="Poppins"/>
              </a:defRPr>
            </a:defPPr>
          </a:lstStyle>
          <a:p>
            <a:pPr>
              <a:defRPr sz="1875" b="1">
                <a:solidFill>
                  <a:srgbClr val="141413"/>
                </a:solidFill>
                <a:latin typeface="Poppins"/>
                <a:ea typeface="Poppins"/>
                <a:cs typeface="Poppins"/>
              </a:defRPr>
            </a:pPr>
            <a:r>
              <a:rPr sz="1875" b="1">
                <a:solidFill>
                  <a:srgbClr val="141413"/>
                </a:solidFill>
                <a:latin typeface="Poppins"/>
                <a:ea typeface="Poppins"/>
                <a:cs typeface="Poppins"/>
              </a:rPr>
              <a:t>Next steps</a:t>
            </a:r>
          </a:p>
        </p:txBody>
      </p:sp>
      <p:sp>
        <p:nvSpPr>
          <p:cNvPr id="14" name="Rectangle 13">
            <a:extLst>
              <a:ext uri="{FF2B5EF4-FFF2-40B4-BE49-F238E27FC236}">
                <a16:creationId xmlns:a16="http://schemas.microsoft.com/office/drawing/2014/main" id="{86476A61-A471-4BEF-9733-CE253AB802B2}"/>
              </a:ext>
            </a:extLst>
          </p:cNvPr>
          <p:cNvSpPr>
            <a:spLocks noGrp="1"/>
          </p:cNvSpPr>
          <p:nvPr/>
        </p:nvSpPr>
        <p:spPr>
          <a:xfrm>
            <a:off x="6648450" y="4562475"/>
            <a:ext cx="4933950" cy="1133475"/>
          </a:xfrm>
          <a:prstGeom prst="rect">
            <a:avLst/>
          </a:prstGeom>
          <a:noFill/>
          <a:ln w="0">
            <a:noFill/>
          </a:ln>
        </p:spPr>
        <p:txBody>
          <a:bodyPr lIns="0" tIns="0" rIns="0" bIns="0" anchor="t"/>
          <a:lstStyle>
            <a:defPPr>
              <a:defRPr sz="1725" b="0">
                <a:solidFill>
                  <a:srgbClr val="141413"/>
                </a:solidFill>
                <a:latin typeface="Georgia"/>
                <a:ea typeface="Georgia"/>
                <a:cs typeface="Georgia"/>
              </a:defRPr>
            </a:defPPr>
          </a:lstStyle>
          <a:p>
            <a:pPr>
              <a:defRPr sz="1725" b="0">
                <a:solidFill>
                  <a:srgbClr val="141413"/>
                </a:solidFill>
                <a:latin typeface="Georgia"/>
                <a:ea typeface="Georgia"/>
                <a:cs typeface="Georgia"/>
              </a:defRPr>
            </a:pPr>
            <a:r>
              <a:rPr sz="1725" b="0">
                <a:solidFill>
                  <a:srgbClr val="141413"/>
                </a:solidFill>
                <a:latin typeface="Georgia"/>
                <a:ea typeface="Georgia"/>
                <a:cs typeface="Georgia"/>
              </a:rPr>
              <a:t>Improve Hindi speaker embeddings.</a:t>
            </a:r>
          </a:p>
          <a:p>
            <a:pPr>
              <a:defRPr sz="1725" b="0">
                <a:solidFill>
                  <a:srgbClr val="141413"/>
                </a:solidFill>
                <a:latin typeface="Georgia"/>
                <a:ea typeface="Georgia"/>
                <a:cs typeface="Georgia"/>
              </a:defRPr>
            </a:pPr>
            <a:r>
              <a:rPr sz="1725" b="0">
                <a:solidFill>
                  <a:srgbClr val="141413"/>
                </a:solidFill>
                <a:latin typeface="Georgia"/>
                <a:ea typeface="Georgia"/>
                <a:cs typeface="Georgia"/>
              </a:rPr>
              <a:t>Evaluate a larger LLM for action items.</a:t>
            </a:r>
          </a:p>
          <a:p>
            <a:pPr>
              <a:defRPr sz="1725" b="0">
                <a:solidFill>
                  <a:srgbClr val="141413"/>
                </a:solidFill>
                <a:latin typeface="Georgia"/>
                <a:ea typeface="Georgia"/>
                <a:cs typeface="Georgia"/>
              </a:defRPr>
            </a:pPr>
            <a:r>
              <a:rPr sz="1725" b="0">
                <a:solidFill>
                  <a:srgbClr val="141413"/>
                </a:solidFill>
                <a:latin typeface="Georgia"/>
                <a:ea typeface="Georgia"/>
                <a:cs typeface="Georgia"/>
              </a:rPr>
              <a:t>Retrain separation on Indian voices and noise.</a:t>
            </a:r>
          </a:p>
        </p:txBody>
      </p:sp>
      <p:sp>
        <p:nvSpPr>
          <p:cNvPr id="15" name="Rectangle 14">
            <a:extLst>
              <a:ext uri="{FF2B5EF4-FFF2-40B4-BE49-F238E27FC236}">
                <a16:creationId xmlns:a16="http://schemas.microsoft.com/office/drawing/2014/main" id="{388A86FB-EF4F-4F5B-BB8E-004AA9767FF8}"/>
              </a:ext>
            </a:extLst>
          </p:cNvPr>
          <p:cNvSpPr>
            <a:spLocks noGrp="1"/>
          </p:cNvSpPr>
          <p:nvPr/>
        </p:nvSpPr>
        <p:spPr>
          <a:xfrm>
            <a:off x="6648450" y="5953125"/>
            <a:ext cx="4933950" cy="400050"/>
          </a:xfrm>
          <a:prstGeom prst="rect">
            <a:avLst/>
          </a:prstGeom>
          <a:noFill/>
          <a:ln w="0">
            <a:noFill/>
          </a:ln>
        </p:spPr>
        <p:txBody>
          <a:bodyPr lIns="0" tIns="0" rIns="0" bIns="0" anchor="t"/>
          <a:lstStyle>
            <a:defPPr>
              <a:defRPr sz="1350" b="0">
                <a:solidFill>
                  <a:srgbClr val="5E5D59"/>
                </a:solidFill>
                <a:latin typeface="Georgia"/>
                <a:ea typeface="Georgia"/>
                <a:cs typeface="Georgia"/>
              </a:defRPr>
            </a:defPPr>
          </a:lstStyle>
          <a:p>
            <a:pPr>
              <a:defRPr sz="1350" b="0">
                <a:solidFill>
                  <a:srgbClr val="5E5D59"/>
                </a:solidFill>
                <a:latin typeface="Georgia"/>
                <a:ea typeface="Georgia"/>
                <a:cs typeface="Georgia"/>
              </a:defRPr>
            </a:pPr>
            <a:r>
              <a:rPr sz="1350" b="0">
                <a:solidFill>
                  <a:srgbClr val="5E5D59"/>
                </a:solidFill>
                <a:latin typeface="Georgia"/>
                <a:ea typeface="Georgia"/>
                <a:cs typeface="Georgia"/>
              </a:rPr>
              <a:t>These are planned extensions, not measured results.</a:t>
            </a:r>
          </a:p>
        </p:txBody>
      </p:sp>
    </p:spTree>
    <p:extLst>
      <p:ext uri="{BB962C8B-B14F-4D97-AF65-F5344CB8AC3E}">
        <p14:creationId xmlns:p14="http://schemas.microsoft.com/office/powerpoint/2010/main" val="208566896"/>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1210</Words>
  <Application>Microsoft Office PowerPoint</Application>
  <DocSecurity>0</DocSecurity>
  <PresentationFormat>Widescreen</PresentationFormat>
  <Paragraphs>76</Paragraphs>
  <Slides>3</Slides>
  <Notes>3</Notes>
  <HiddenSlides>0</HiddenSlides>
  <MMClips>3</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vt:i4>
      </vt:variant>
    </vt:vector>
  </HeadingPairs>
  <TitlesOfParts>
    <vt:vector size="7" baseType="lpstr">
      <vt:lpstr>Georgia</vt:lpstr>
      <vt:lpstr>Aptos</vt:lpstr>
      <vt:lpstr>Poppins</vt:lpstr>
      <vt:lpstr>ChatGPT</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Darshan Rajagoli</cp:lastModifiedBy>
  <cp:revision>1</cp:revision>
  <dcterms:created xsi:type="dcterms:W3CDTF">2026-10-15T00:01:13Z</dcterms:created>
  <dcterms:modified xsi:type="dcterms:W3CDTF">2026-10-15T00:01:35Z</dcterms:modified>
</cp:coreProperties>
</file>